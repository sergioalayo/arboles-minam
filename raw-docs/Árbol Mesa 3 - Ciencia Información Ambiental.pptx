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64592"/>
            <a:ext cx="13990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64146"/>
                </a:solidFill>
                <a:latin typeface="Arial"/>
              </a:rPr>
              <a:t>MESA DE TRABAJO 3  |  ÁRBOL DE PROBLEMAS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749808"/>
            <a:ext cx="13807440" cy="0"/>
          </a:xfrm>
          <a:prstGeom prst="line">
            <a:avLst/>
          </a:prstGeom>
          <a:ln w="15240">
            <a:solidFill>
              <a:srgbClr val="D7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987552"/>
            <a:ext cx="4343400" cy="530352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1. Confusión en la respuesta para los usuarios finales y mala gobernanza de las respuestas al SINAGERD.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81912"/>
            <a:ext cx="4343400" cy="713232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2. La información y los modelos generados por los IPIs se incorporan de manera limitada o no sistemática en plataformas y herramientas operativas de otras entidades, como SIGRID o los módulos de los COE.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59152"/>
            <a:ext cx="4343400" cy="749808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3. En la cadena de alerta temprana pueden presentarse demoras o vacíos de articulación cuando no están claramente definidos los protocolos entre quien genera evidencia científico-técnica y quien adopta decisiones o acciones.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83180" y="3127248"/>
            <a:ext cx="0" cy="210312"/>
          </a:xfrm>
          <a:prstGeom prst="line">
            <a:avLst/>
          </a:prstGeom>
          <a:ln w="1270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3337560"/>
            <a:ext cx="4343400" cy="566928"/>
          </a:xfrm>
          <a:prstGeom prst="rect">
            <a:avLst/>
          </a:prstGeom>
          <a:solidFill>
            <a:srgbClr val="5AD389"/>
          </a:solidFill>
          <a:ln w="10160">
            <a:solidFill>
              <a:srgbClr val="30B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4146"/>
                </a:solidFill>
                <a:latin typeface="Arial"/>
              </a:rPr>
              <a:t>EFECTO DIRECTO 1
Respuestas institucionales fragmentadas y tardías ante emergencias y riesgos.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987552"/>
            <a:ext cx="4343400" cy="566928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1. Los gobiernos regionales (GOREs) y locales (GOLOs) formulan planes (por ejemplo, de desarrollo concertado y acondicionamiento territorial) y ejecutan proyectos sin considerar evidencia científica.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618488"/>
            <a:ext cx="4343400" cy="566928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2. Las políticas públicas nacionales no toman en cuenta la evidencia generada ni los resultados científicos disponibles.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55180" y="2203704"/>
            <a:ext cx="0" cy="1133856"/>
          </a:xfrm>
          <a:prstGeom prst="line">
            <a:avLst/>
          </a:prstGeom>
          <a:ln w="1270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83480" y="3337560"/>
            <a:ext cx="4343400" cy="566928"/>
          </a:xfrm>
          <a:prstGeom prst="rect">
            <a:avLst/>
          </a:prstGeom>
          <a:solidFill>
            <a:srgbClr val="5AD389"/>
          </a:solidFill>
          <a:ln w="10160">
            <a:solidFill>
              <a:srgbClr val="30B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4146"/>
                </a:solidFill>
                <a:latin typeface="Arial"/>
              </a:rPr>
              <a:t>EFECTO DIRECTO 2
Instrumentos de gestión territorial e intervenciones con limitada base científica.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987552"/>
            <a:ext cx="4343400" cy="530352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1. El financiamiento y los proyectos de cooperación técnica internacional apoyan acciones localizadas que no conversan con la necesidad de cerrar brechas de política pública priorizadas.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80" y="1581912"/>
            <a:ext cx="4343400" cy="713232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2. Investigaciones de alto valor se convierten en “cajas negras” e invisibles al no estar publicadas de manera ágil y sencilla (“la información que no se publica, no existe”).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2359152"/>
            <a:ext cx="4343400" cy="749808"/>
          </a:xfrm>
          <a:prstGeom prst="rect">
            <a:avLst/>
          </a:prstGeom>
          <a:solidFill>
            <a:srgbClr val="DEF6AD"/>
          </a:solidFill>
          <a:ln w="10160">
            <a:solidFill>
              <a:srgbClr val="B2D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3. Recursos públicos mal invertidos debido a la duplicidad de esfuerzos en territorios similares.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27180" y="3127248"/>
            <a:ext cx="0" cy="210312"/>
          </a:xfrm>
          <a:prstGeom prst="line">
            <a:avLst/>
          </a:prstGeom>
          <a:ln w="1270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555480" y="3337560"/>
            <a:ext cx="4343400" cy="566928"/>
          </a:xfrm>
          <a:prstGeom prst="rect">
            <a:avLst/>
          </a:prstGeom>
          <a:solidFill>
            <a:srgbClr val="5AD389"/>
          </a:solidFill>
          <a:ln w="10160">
            <a:solidFill>
              <a:srgbClr val="30B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64146"/>
                </a:solidFill>
                <a:latin typeface="Arial"/>
              </a:rPr>
              <a:t>EFECTO DIRECTO 3
Desalineamiento de intervenciones y pérdida del valor público de los resultados de las investigaciones.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83180" y="3904487"/>
            <a:ext cx="4732020" cy="228600"/>
          </a:xfrm>
          <a:prstGeom prst="line">
            <a:avLst/>
          </a:prstGeom>
          <a:ln w="1397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55180" y="3904487"/>
            <a:ext cx="160020" cy="228600"/>
          </a:xfrm>
          <a:prstGeom prst="line">
            <a:avLst/>
          </a:prstGeom>
          <a:ln w="1397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315200" y="3904487"/>
            <a:ext cx="4411980" cy="228600"/>
          </a:xfrm>
          <a:prstGeom prst="line">
            <a:avLst/>
          </a:prstGeom>
          <a:ln w="13970">
            <a:solidFill>
              <a:srgbClr val="50A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920240" y="4133087"/>
            <a:ext cx="10789920" cy="713232"/>
          </a:xfrm>
          <a:prstGeom prst="rect">
            <a:avLst/>
          </a:prstGeom>
          <a:solidFill>
            <a:srgbClr val="74D3EF"/>
          </a:solidFill>
          <a:ln w="10160">
            <a:solidFill>
              <a:srgbClr val="42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dirty="0">
                <a:solidFill>
                  <a:srgbClr val="264146"/>
                </a:solidFill>
                <a:latin typeface="Arial"/>
              </a:rPr>
              <a:t>PROBLEMA CENTRAL 
Limitada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articulación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y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aprovechamiento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de las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capacidades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técnico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científicas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,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tecnológicas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y de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información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del Sector Ambiental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que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aporten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a las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políticas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públicas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y a la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toma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de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decisiones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en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gestión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ambiental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y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gestión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del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riesgo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 de </a:t>
            </a:r>
            <a:r>
              <a:rPr sz="1220" b="1" dirty="0" err="1">
                <a:solidFill>
                  <a:srgbClr val="264146"/>
                </a:solidFill>
                <a:latin typeface="Arial"/>
              </a:rPr>
              <a:t>desastres</a:t>
            </a:r>
            <a:r>
              <a:rPr sz="1220" b="1" dirty="0">
                <a:solidFill>
                  <a:srgbClr val="264146"/>
                </a:solidFill>
                <a:latin typeface="Arial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583180" y="4846320"/>
            <a:ext cx="4732020" cy="182880"/>
          </a:xfrm>
          <a:prstGeom prst="line">
            <a:avLst/>
          </a:prstGeom>
          <a:ln w="15240">
            <a:solidFill>
              <a:srgbClr val="DA8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1480" y="5029200"/>
            <a:ext cx="4343400" cy="603504"/>
          </a:xfrm>
          <a:prstGeom prst="rect">
            <a:avLst/>
          </a:prstGeom>
          <a:solidFill>
            <a:srgbClr val="FFE859"/>
          </a:solidFill>
          <a:ln w="10160">
            <a:solidFill>
              <a:srgbClr val="EB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64146"/>
                </a:solidFill>
                <a:latin typeface="Arial"/>
              </a:rPr>
              <a:t>CAUSA DIRECTA 1
Débil gobernanza científica y desalineamiento normativo o institucional.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74243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1.1. Desactualización normativa de las competencias y funciones del MINAM y las IPIs.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15184" y="574243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1.2. Duplicidad y superposición de funciones entre las IPIs del sector ambiental y otros sectores.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7395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1.3. Investigaciones dispersas y desarticuladas con las prioridades ambientales y políticas públicas nacionales, y sin enfoque al ciudadano.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15184" y="647395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1.4. Limitada sistematización, disponibilidad y accesibilidad de información, estudios e investigaciones ambientales y de gestión de riesgo, para su aprovechamiento por los usuarios y tomadores de decisiones.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720547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1.5. Mecanismos de financiamiento predominantemente institucionales y poco orientados a iniciativas conjuntas o agendas compartidas entre los IPI.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15184" y="720547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1.6. Limitados mecanismos permanentes de coordinación interinstitucional para el desarrollo complementario de estudios e investigaciones.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55180" y="4846320"/>
            <a:ext cx="160020" cy="182880"/>
          </a:xfrm>
          <a:prstGeom prst="line">
            <a:avLst/>
          </a:prstGeom>
          <a:ln w="15240">
            <a:solidFill>
              <a:srgbClr val="DA8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983480" y="5029200"/>
            <a:ext cx="4343400" cy="603504"/>
          </a:xfrm>
          <a:prstGeom prst="rect">
            <a:avLst/>
          </a:prstGeom>
          <a:solidFill>
            <a:srgbClr val="FFE859"/>
          </a:solidFill>
          <a:ln w="10160">
            <a:solidFill>
              <a:srgbClr val="EB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64146"/>
                </a:solidFill>
                <a:latin typeface="Arial"/>
              </a:rPr>
              <a:t>CAUSA DIRECTA 2
Limitada interoperabilidad y fragmentación de los ecosistemas de datos e información.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574243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2.1. Sistemas de información y plataformas que funcionan de manera aislada como “islas”, donde cada entidad desarrolla y administra lo suyo sin integración.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87184" y="574243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2.2. Heterogeneidad técnica; limitada aplicación de los formatos, metadatos, metodologías ni protocolos estandarizados y automatizados de intercambio en el marco del SINIA y otros sistemas aplicables.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647395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2.3. Limitada interoperabilidad entre plataformas geoespaciales y sistemas de información de las entidades del Sector Ambiental.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87184" y="6473952"/>
            <a:ext cx="2112264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64146"/>
                </a:solidFill>
                <a:latin typeface="Arial"/>
              </a:rPr>
              <a:t>2.4. Insuficiente infraestructura física, de conectividad digital y equipamiento tecnológico para procesar y transmitir información en tiempo real.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0" y="4846320"/>
            <a:ext cx="4411980" cy="182880"/>
          </a:xfrm>
          <a:prstGeom prst="line">
            <a:avLst/>
          </a:prstGeom>
          <a:ln w="15240">
            <a:solidFill>
              <a:srgbClr val="DA8F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555480" y="5029200"/>
            <a:ext cx="4343400" cy="603504"/>
          </a:xfrm>
          <a:prstGeom prst="rect">
            <a:avLst/>
          </a:prstGeom>
          <a:solidFill>
            <a:srgbClr val="FFE859"/>
          </a:solidFill>
          <a:ln w="10160">
            <a:solidFill>
              <a:srgbClr val="EB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64146"/>
                </a:solidFill>
                <a:latin typeface="Arial"/>
              </a:rPr>
              <a:t>CAUSA DIRECTA 3
Brechas en la gestión, transferencia y sostenibilidad del conocimiento y de las capacidades técnico-científicas.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5742432"/>
            <a:ext cx="4343400" cy="530352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3.1. La información técnico-científica de difícil comprensión para el público general y tomadores de decisiones.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6336792"/>
            <a:ext cx="4343400" cy="530352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3.2. Limitaciones para atraer, desarrollar y retener personal científico y técnico altamente especializado.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6931152"/>
            <a:ext cx="4343400" cy="640080"/>
          </a:xfrm>
          <a:prstGeom prst="rect">
            <a:avLst/>
          </a:prstGeom>
          <a:solidFill>
            <a:srgbClr val="FFF7A6"/>
          </a:solidFill>
          <a:ln w="10160">
            <a:solidFill>
              <a:srgbClr val="EB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64146"/>
                </a:solidFill>
                <a:latin typeface="Arial"/>
              </a:rPr>
              <a:t>3.3. Limitados espacios sistemáticos de retroalimentación entre investigadores y tomadores de decisiones para plantear soluciones a las necesidades de la población.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644</Words>
  <Application>Microsoft Office PowerPoint</Application>
  <PresentationFormat>Personalizado</PresentationFormat>
  <Paragraphs>29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Cesar Ricardo Santisteban Perez</dc:creator>
  <cp:keywords/>
  <dc:description>generated using python-pptx</dc:description>
  <cp:lastModifiedBy>Irwing Aspajo Grandez</cp:lastModifiedBy>
  <cp:revision>3</cp:revision>
  <dcterms:created xsi:type="dcterms:W3CDTF">2013-01-27T09:14:16Z</dcterms:created>
  <dcterms:modified xsi:type="dcterms:W3CDTF">2026-10-16T21:35:52Z</dcterms:modified>
  <cp:category/>
</cp:coreProperties>
</file>