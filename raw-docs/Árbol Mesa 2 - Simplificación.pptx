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427" r:id="rId2"/>
  </p:sldIdLst>
  <p:sldSz cx="18288000" cy="10287000"/>
  <p:notesSz cx="6858000" cy="9144000"/>
  <p:embeddedFontLst>
    <p:embeddedFont>
      <p:font typeface="Poppins Bold" panose="020B0604020202020204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CE1"/>
    <a:srgbClr val="CCFFCC"/>
    <a:srgbClr val="66FF99"/>
    <a:srgbClr val="215968"/>
    <a:srgbClr val="31859C"/>
    <a:srgbClr val="D99694"/>
    <a:srgbClr val="FFAA00"/>
    <a:srgbClr val="03C3E6"/>
    <a:srgbClr val="004AAD"/>
    <a:srgbClr val="4D7F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83" autoAdjust="0"/>
    <p:restoredTop sz="94539" autoAdjust="0"/>
  </p:normalViewPr>
  <p:slideViewPr>
    <p:cSldViewPr>
      <p:cViewPr varScale="1">
        <p:scale>
          <a:sx n="68" d="100"/>
          <a:sy n="68" d="100"/>
        </p:scale>
        <p:origin x="123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229C3-64E2-4D4B-A036-4574D28EBDE2}" type="datetimeFigureOut">
              <a:rPr lang="es-PE" smtClean="0"/>
              <a:t>16/10/2026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BE3E64-4FE9-4A56-A7D9-8C5ABB22C4A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222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A3C3C-BC8C-70C1-DCAC-5F9BE261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6062C7-6602-C8B5-A30A-D449874DA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BCBEF40-508D-47B3-DC56-76C5836BC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62DBC8-BCA3-F5E7-B3A8-C4AB22D7FE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BE3E64-4FE9-4A56-A7D9-8C5ABB22C4AC}" type="slidenum">
              <a:rPr lang="es-PE" smtClean="0"/>
              <a:t>1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41196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B34F6-DC4D-A915-E020-C94C79B6E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ángulo: esquinas redondeadas 131">
            <a:extLst>
              <a:ext uri="{FF2B5EF4-FFF2-40B4-BE49-F238E27FC236}">
                <a16:creationId xmlns:a16="http://schemas.microsoft.com/office/drawing/2014/main" id="{426A00A2-A7FB-424E-F13B-61763F9A24CA}"/>
              </a:ext>
            </a:extLst>
          </p:cNvPr>
          <p:cNvSpPr/>
          <p:nvPr/>
        </p:nvSpPr>
        <p:spPr>
          <a:xfrm>
            <a:off x="152400" y="269531"/>
            <a:ext cx="15917975" cy="79817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33" name="Rectángulo: una sola esquina cortada 7">
            <a:extLst>
              <a:ext uri="{FF2B5EF4-FFF2-40B4-BE49-F238E27FC236}">
                <a16:creationId xmlns:a16="http://schemas.microsoft.com/office/drawing/2014/main" id="{8C5375CD-4647-22B9-589C-93C0BB081780}"/>
              </a:ext>
            </a:extLst>
          </p:cNvPr>
          <p:cNvSpPr/>
          <p:nvPr/>
        </p:nvSpPr>
        <p:spPr>
          <a:xfrm flipH="1">
            <a:off x="14325883" y="269531"/>
            <a:ext cx="3809717" cy="828481"/>
          </a:xfrm>
          <a:custGeom>
            <a:avLst/>
            <a:gdLst>
              <a:gd name="connsiteX0" fmla="*/ 0 w 2293034"/>
              <a:gd name="connsiteY0" fmla="*/ 0 h 695325"/>
              <a:gd name="connsiteX1" fmla="*/ 1945372 w 2293034"/>
              <a:gd name="connsiteY1" fmla="*/ 0 h 695325"/>
              <a:gd name="connsiteX2" fmla="*/ 2293034 w 2293034"/>
              <a:gd name="connsiteY2" fmla="*/ 347663 h 695325"/>
              <a:gd name="connsiteX3" fmla="*/ 2293034 w 2293034"/>
              <a:gd name="connsiteY3" fmla="*/ 695325 h 695325"/>
              <a:gd name="connsiteX4" fmla="*/ 0 w 2293034"/>
              <a:gd name="connsiteY4" fmla="*/ 695325 h 695325"/>
              <a:gd name="connsiteX5" fmla="*/ 0 w 2293034"/>
              <a:gd name="connsiteY5" fmla="*/ 0 h 695325"/>
              <a:gd name="connsiteX0" fmla="*/ 0 w 2293034"/>
              <a:gd name="connsiteY0" fmla="*/ 0 h 695325"/>
              <a:gd name="connsiteX1" fmla="*/ 1945372 w 2293034"/>
              <a:gd name="connsiteY1" fmla="*/ 0 h 695325"/>
              <a:gd name="connsiteX2" fmla="*/ 2293034 w 2293034"/>
              <a:gd name="connsiteY2" fmla="*/ 695325 h 695325"/>
              <a:gd name="connsiteX3" fmla="*/ 0 w 2293034"/>
              <a:gd name="connsiteY3" fmla="*/ 695325 h 695325"/>
              <a:gd name="connsiteX4" fmla="*/ 0 w 2293034"/>
              <a:gd name="connsiteY4" fmla="*/ 0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3034" h="695325">
                <a:moveTo>
                  <a:pt x="0" y="0"/>
                </a:moveTo>
                <a:lnTo>
                  <a:pt x="1945372" y="0"/>
                </a:lnTo>
                <a:lnTo>
                  <a:pt x="2293034" y="695325"/>
                </a:lnTo>
                <a:lnTo>
                  <a:pt x="0" y="695325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35" name="Freeform 322">
            <a:extLst>
              <a:ext uri="{FF2B5EF4-FFF2-40B4-BE49-F238E27FC236}">
                <a16:creationId xmlns:a16="http://schemas.microsoft.com/office/drawing/2014/main" id="{3DA3B657-6884-C752-C7A0-1A062C0AF986}"/>
              </a:ext>
            </a:extLst>
          </p:cNvPr>
          <p:cNvSpPr/>
          <p:nvPr/>
        </p:nvSpPr>
        <p:spPr>
          <a:xfrm>
            <a:off x="256499" y="267502"/>
            <a:ext cx="2399808" cy="673622"/>
          </a:xfrm>
          <a:custGeom>
            <a:avLst/>
            <a:gdLst/>
            <a:ahLst/>
            <a:cxnLst/>
            <a:rect l="l" t="t" r="r" b="b"/>
            <a:pathLst>
              <a:path w="3199744" h="898162">
                <a:moveTo>
                  <a:pt x="0" y="0"/>
                </a:moveTo>
                <a:lnTo>
                  <a:pt x="3199744" y="0"/>
                </a:lnTo>
                <a:lnTo>
                  <a:pt x="3199744" y="898162"/>
                </a:lnTo>
                <a:lnTo>
                  <a:pt x="0" y="8981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6343" b="-129911"/>
            </a:stretch>
          </a:blipFill>
        </p:spPr>
        <p:txBody>
          <a:bodyPr/>
          <a:lstStyle/>
          <a:p>
            <a:endParaRPr lang="es-PE" noProof="0" dirty="0"/>
          </a:p>
        </p:txBody>
      </p:sp>
      <p:sp>
        <p:nvSpPr>
          <p:cNvPr id="136" name="Freeform 22">
            <a:extLst>
              <a:ext uri="{FF2B5EF4-FFF2-40B4-BE49-F238E27FC236}">
                <a16:creationId xmlns:a16="http://schemas.microsoft.com/office/drawing/2014/main" id="{D421B78D-C1D6-E0A2-53D8-249328A4D1EE}"/>
              </a:ext>
            </a:extLst>
          </p:cNvPr>
          <p:cNvSpPr/>
          <p:nvPr/>
        </p:nvSpPr>
        <p:spPr>
          <a:xfrm>
            <a:off x="15329497" y="347746"/>
            <a:ext cx="2777669" cy="598935"/>
          </a:xfrm>
          <a:custGeom>
            <a:avLst/>
            <a:gdLst/>
            <a:ahLst/>
            <a:cxnLst/>
            <a:rect l="l" t="t" r="r" b="b"/>
            <a:pathLst>
              <a:path w="3703558" h="798580">
                <a:moveTo>
                  <a:pt x="0" y="0"/>
                </a:moveTo>
                <a:lnTo>
                  <a:pt x="3703559" y="0"/>
                </a:lnTo>
                <a:lnTo>
                  <a:pt x="3703559" y="798580"/>
                </a:lnTo>
                <a:lnTo>
                  <a:pt x="0" y="798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 noProof="0" dirty="0"/>
          </a:p>
        </p:txBody>
      </p: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48FB5926-B559-234D-F5CC-5183FE30A2DD}"/>
              </a:ext>
            </a:extLst>
          </p:cNvPr>
          <p:cNvSpPr txBox="1"/>
          <p:nvPr/>
        </p:nvSpPr>
        <p:spPr>
          <a:xfrm>
            <a:off x="2760406" y="412224"/>
            <a:ext cx="11697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3200" noProof="0" dirty="0">
                <a:solidFill>
                  <a:schemeClr val="accent5">
                    <a:lumMod val="50000"/>
                  </a:schemeClr>
                </a:solidFill>
                <a:latin typeface="Poppins Bold" panose="00000800000000000000" charset="0"/>
                <a:cs typeface="Poppins Bold" panose="00000800000000000000" charset="0"/>
              </a:rPr>
              <a:t>Árbol de Problema (Mesa 2)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A88B061-B88D-E297-7B17-41400320FA2F}"/>
              </a:ext>
            </a:extLst>
          </p:cNvPr>
          <p:cNvSpPr/>
          <p:nvPr/>
        </p:nvSpPr>
        <p:spPr>
          <a:xfrm>
            <a:off x="7081225" y="3162300"/>
            <a:ext cx="3306609" cy="7186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noProof="0" dirty="0"/>
              <a:t>Desconocimiento de la oferta de servicios del Sector Ambiental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DDD5087-FCBD-AA90-C002-3C7338AFF977}"/>
              </a:ext>
            </a:extLst>
          </p:cNvPr>
          <p:cNvSpPr/>
          <p:nvPr/>
        </p:nvSpPr>
        <p:spPr>
          <a:xfrm>
            <a:off x="2003284" y="3162300"/>
            <a:ext cx="2929688" cy="7186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noProof="0" dirty="0"/>
              <a:t>Incertidumbre y falta de predictibilidad en la realización de trámites y solicitudes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DD00D83-24B6-29A8-4689-87AFEF2976B4}"/>
              </a:ext>
            </a:extLst>
          </p:cNvPr>
          <p:cNvSpPr/>
          <p:nvPr/>
        </p:nvSpPr>
        <p:spPr>
          <a:xfrm>
            <a:off x="533400" y="4305300"/>
            <a:ext cx="17146361" cy="7981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noProof="0" dirty="0">
                <a:solidFill>
                  <a:schemeClr val="tx1"/>
                </a:solidFill>
              </a:rPr>
              <a:t>Deficiencias en la prestación y simplificación de los servicios públicos del Sector Ambiental</a:t>
            </a:r>
            <a:endParaRPr lang="es-PE" sz="3200" noProof="0" dirty="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1327A77-AC7F-B866-90D0-1EF025694E9E}"/>
              </a:ext>
            </a:extLst>
          </p:cNvPr>
          <p:cNvSpPr/>
          <p:nvPr/>
        </p:nvSpPr>
        <p:spPr>
          <a:xfrm>
            <a:off x="1899896" y="5526186"/>
            <a:ext cx="3505196" cy="7981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noProof="0" dirty="0">
                <a:solidFill>
                  <a:schemeClr val="tx1"/>
                </a:solidFill>
              </a:rPr>
              <a:t>Demora en l</a:t>
            </a:r>
            <a:r>
              <a:rPr lang="es-PE" b="1" dirty="0">
                <a:solidFill>
                  <a:schemeClr val="tx1"/>
                </a:solidFill>
              </a:rPr>
              <a:t>a</a:t>
            </a:r>
            <a:r>
              <a:rPr lang="es-PE" b="1" noProof="0" dirty="0">
                <a:solidFill>
                  <a:schemeClr val="tx1"/>
                </a:solidFill>
              </a:rPr>
              <a:t> atención </a:t>
            </a:r>
            <a:r>
              <a:rPr lang="es-PE" noProof="0" dirty="0">
                <a:solidFill>
                  <a:schemeClr val="tx1"/>
                </a:solidFill>
              </a:rPr>
              <a:t>de trámites y solicitudes de los administrados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DA95F69-4148-84E3-5F89-FB538A64BD9E}"/>
              </a:ext>
            </a:extLst>
          </p:cNvPr>
          <p:cNvSpPr/>
          <p:nvPr/>
        </p:nvSpPr>
        <p:spPr>
          <a:xfrm>
            <a:off x="1823694" y="8090589"/>
            <a:ext cx="3657600" cy="7712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noProof="0" dirty="0">
                <a:solidFill>
                  <a:schemeClr val="tx1"/>
                </a:solidFill>
              </a:rPr>
              <a:t>Los servicios no cuentan con una planificación que permita su atención sobre la base de su demanda real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9CBFD44-5737-EEA9-5E0A-F43937A0A389}"/>
              </a:ext>
            </a:extLst>
          </p:cNvPr>
          <p:cNvSpPr/>
          <p:nvPr/>
        </p:nvSpPr>
        <p:spPr>
          <a:xfrm>
            <a:off x="299694" y="6859924"/>
            <a:ext cx="2365432" cy="7981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noProof="0" dirty="0">
                <a:solidFill>
                  <a:schemeClr val="tx1"/>
                </a:solidFill>
              </a:rPr>
              <a:t>Limitada capacidad operativa para la atención de servicios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7587E58-0E7A-F976-A7E0-6B709769E8ED}"/>
              </a:ext>
            </a:extLst>
          </p:cNvPr>
          <p:cNvSpPr/>
          <p:nvPr/>
        </p:nvSpPr>
        <p:spPr>
          <a:xfrm>
            <a:off x="2802335" y="6859923"/>
            <a:ext cx="1700319" cy="7981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noProof="0" dirty="0">
                <a:solidFill>
                  <a:schemeClr val="tx1"/>
                </a:solidFill>
              </a:rPr>
              <a:t>Alta demanda de los servicios</a:t>
            </a:r>
          </a:p>
        </p:txBody>
      </p: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B89CC6F4-151A-9402-7FA8-81848206FA72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 rot="5400000">
            <a:off x="2299672" y="5507101"/>
            <a:ext cx="535561" cy="2170084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BBB8023B-09CE-99E1-BE10-96B142344DAA}"/>
              </a:ext>
            </a:extLst>
          </p:cNvPr>
          <p:cNvCxnSpPr>
            <a:cxnSpLocks/>
            <a:stCxn id="16" idx="2"/>
            <a:endCxn id="20" idx="0"/>
          </p:cNvCxnSpPr>
          <p:nvPr/>
        </p:nvCxnSpPr>
        <p:spPr>
          <a:xfrm rot="16200000" flipH="1">
            <a:off x="3384714" y="6592142"/>
            <a:ext cx="535560" cy="1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: angular 34">
            <a:extLst>
              <a:ext uri="{FF2B5EF4-FFF2-40B4-BE49-F238E27FC236}">
                <a16:creationId xmlns:a16="http://schemas.microsoft.com/office/drawing/2014/main" id="{A66446C6-320E-B427-5413-E2F891337CAA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rot="5400000">
            <a:off x="6168184" y="2587788"/>
            <a:ext cx="422709" cy="5454087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ángulo 89">
            <a:extLst>
              <a:ext uri="{FF2B5EF4-FFF2-40B4-BE49-F238E27FC236}">
                <a16:creationId xmlns:a16="http://schemas.microsoft.com/office/drawing/2014/main" id="{83A3DC08-266B-B4C2-A61A-3EFF120D713D}"/>
              </a:ext>
            </a:extLst>
          </p:cNvPr>
          <p:cNvSpPr/>
          <p:nvPr/>
        </p:nvSpPr>
        <p:spPr>
          <a:xfrm>
            <a:off x="4617859" y="6856250"/>
            <a:ext cx="2425786" cy="7981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noProof="0" dirty="0">
                <a:solidFill>
                  <a:schemeClr val="tx1"/>
                </a:solidFill>
              </a:rPr>
              <a:t>Falta de mecanismos de monitoreo, seguimiento, evaluación de los servicios</a:t>
            </a:r>
          </a:p>
        </p:txBody>
      </p:sp>
      <p:cxnSp>
        <p:nvCxnSpPr>
          <p:cNvPr id="93" name="Conector: angular 92">
            <a:extLst>
              <a:ext uri="{FF2B5EF4-FFF2-40B4-BE49-F238E27FC236}">
                <a16:creationId xmlns:a16="http://schemas.microsoft.com/office/drawing/2014/main" id="{B46C47C3-5F5B-46BE-90E4-8D5AAAD35D0A}"/>
              </a:ext>
            </a:extLst>
          </p:cNvPr>
          <p:cNvCxnSpPr>
            <a:cxnSpLocks/>
            <a:stCxn id="16" idx="2"/>
            <a:endCxn id="90" idx="0"/>
          </p:cNvCxnSpPr>
          <p:nvPr/>
        </p:nvCxnSpPr>
        <p:spPr>
          <a:xfrm rot="16200000" flipH="1">
            <a:off x="4475680" y="5501177"/>
            <a:ext cx="531887" cy="2178258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ángulo 119">
            <a:extLst>
              <a:ext uri="{FF2B5EF4-FFF2-40B4-BE49-F238E27FC236}">
                <a16:creationId xmlns:a16="http://schemas.microsoft.com/office/drawing/2014/main" id="{10F4D3FB-48DF-5DCE-7302-70026255273C}"/>
              </a:ext>
            </a:extLst>
          </p:cNvPr>
          <p:cNvSpPr/>
          <p:nvPr/>
        </p:nvSpPr>
        <p:spPr>
          <a:xfrm>
            <a:off x="9144000" y="5520298"/>
            <a:ext cx="3716445" cy="7981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>
                <a:solidFill>
                  <a:schemeClr val="tx1"/>
                </a:solidFill>
              </a:rPr>
              <a:t>Deficiente </a:t>
            </a:r>
            <a:r>
              <a:rPr lang="es-PE" sz="1600" b="1" dirty="0">
                <a:solidFill>
                  <a:schemeClr val="tx1"/>
                </a:solidFill>
              </a:rPr>
              <a:t>visibilidad</a:t>
            </a:r>
            <a:r>
              <a:rPr lang="es-PE" sz="1600" dirty="0">
                <a:solidFill>
                  <a:schemeClr val="tx1"/>
                </a:solidFill>
              </a:rPr>
              <a:t>, </a:t>
            </a:r>
            <a:r>
              <a:rPr lang="es-PE" sz="1600" b="1" dirty="0">
                <a:solidFill>
                  <a:schemeClr val="tx1"/>
                </a:solidFill>
              </a:rPr>
              <a:t>estandarización</a:t>
            </a:r>
            <a:r>
              <a:rPr lang="es-PE" sz="1600" dirty="0">
                <a:solidFill>
                  <a:schemeClr val="tx1"/>
                </a:solidFill>
              </a:rPr>
              <a:t> y </a:t>
            </a:r>
            <a:r>
              <a:rPr lang="es-PE" sz="1600" b="1" dirty="0">
                <a:solidFill>
                  <a:schemeClr val="tx1"/>
                </a:solidFill>
              </a:rPr>
              <a:t>acceso</a:t>
            </a:r>
            <a:r>
              <a:rPr lang="es-PE" sz="1600" dirty="0">
                <a:solidFill>
                  <a:schemeClr val="tx1"/>
                </a:solidFill>
              </a:rPr>
              <a:t> de la oferta de servicios del Sector Ambiental</a:t>
            </a:r>
          </a:p>
        </p:txBody>
      </p:sp>
      <p:sp>
        <p:nvSpPr>
          <p:cNvPr id="123" name="Rectángulo 122">
            <a:extLst>
              <a:ext uri="{FF2B5EF4-FFF2-40B4-BE49-F238E27FC236}">
                <a16:creationId xmlns:a16="http://schemas.microsoft.com/office/drawing/2014/main" id="{A6DB8970-276D-FEF2-7ECE-73BB409C6EA7}"/>
              </a:ext>
            </a:extLst>
          </p:cNvPr>
          <p:cNvSpPr/>
          <p:nvPr/>
        </p:nvSpPr>
        <p:spPr>
          <a:xfrm>
            <a:off x="7386294" y="6896099"/>
            <a:ext cx="2196324" cy="7981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Heterogeneidad y falta de estandarización en los servicios Sector</a:t>
            </a:r>
            <a:endParaRPr lang="es-PE" sz="1400" dirty="0">
              <a:solidFill>
                <a:schemeClr val="tx1"/>
              </a:solidFill>
            </a:endParaRPr>
          </a:p>
        </p:txBody>
      </p:sp>
      <p:sp>
        <p:nvSpPr>
          <p:cNvPr id="125" name="Rectángulo 124">
            <a:extLst>
              <a:ext uri="{FF2B5EF4-FFF2-40B4-BE49-F238E27FC236}">
                <a16:creationId xmlns:a16="http://schemas.microsoft.com/office/drawing/2014/main" id="{D42CBB7C-13ED-F75C-6DEC-CD1C5A03C293}"/>
              </a:ext>
            </a:extLst>
          </p:cNvPr>
          <p:cNvSpPr/>
          <p:nvPr/>
        </p:nvSpPr>
        <p:spPr>
          <a:xfrm>
            <a:off x="9748494" y="6914889"/>
            <a:ext cx="2497985" cy="7718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chemeClr val="tx1"/>
                </a:solidFill>
              </a:rPr>
              <a:t>Dispersión y desarticulación en los canales de atención y consulta</a:t>
            </a:r>
          </a:p>
        </p:txBody>
      </p: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BF443F3B-D87A-2032-C876-4E78948D7240}"/>
              </a:ext>
            </a:extLst>
          </p:cNvPr>
          <p:cNvSpPr/>
          <p:nvPr/>
        </p:nvSpPr>
        <p:spPr>
          <a:xfrm>
            <a:off x="12352770" y="6914890"/>
            <a:ext cx="2196324" cy="7793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Limitada difusión de la oferta de servicios públicos del Sector Ambiental.</a:t>
            </a:r>
            <a:endParaRPr lang="es-PE" sz="1400" dirty="0">
              <a:solidFill>
                <a:schemeClr val="tx1"/>
              </a:solidFill>
            </a:endParaRPr>
          </a:p>
        </p:txBody>
      </p:sp>
      <p:sp>
        <p:nvSpPr>
          <p:cNvPr id="174" name="Rectángulo 173">
            <a:extLst>
              <a:ext uri="{FF2B5EF4-FFF2-40B4-BE49-F238E27FC236}">
                <a16:creationId xmlns:a16="http://schemas.microsoft.com/office/drawing/2014/main" id="{EA60DF5A-EC9E-C1E1-B457-5D5258B8E6B3}"/>
              </a:ext>
            </a:extLst>
          </p:cNvPr>
          <p:cNvSpPr/>
          <p:nvPr/>
        </p:nvSpPr>
        <p:spPr>
          <a:xfrm>
            <a:off x="8631327" y="8065319"/>
            <a:ext cx="2196324" cy="7712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500" dirty="0">
                <a:solidFill>
                  <a:schemeClr val="tx1"/>
                </a:solidFill>
              </a:rPr>
              <a:t>Deficiente estandarización de procesos a nivel Sectorial</a:t>
            </a:r>
          </a:p>
        </p:txBody>
      </p:sp>
      <p:sp>
        <p:nvSpPr>
          <p:cNvPr id="184" name="Rectángulo 183">
            <a:extLst>
              <a:ext uri="{FF2B5EF4-FFF2-40B4-BE49-F238E27FC236}">
                <a16:creationId xmlns:a16="http://schemas.microsoft.com/office/drawing/2014/main" id="{3604BD8E-8297-7D6C-CAB1-A275EA22B7B5}"/>
              </a:ext>
            </a:extLst>
          </p:cNvPr>
          <p:cNvSpPr/>
          <p:nvPr/>
        </p:nvSpPr>
        <p:spPr>
          <a:xfrm>
            <a:off x="11801032" y="3162300"/>
            <a:ext cx="2585425" cy="7186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noProof="0" dirty="0"/>
              <a:t>Deterioro de la percepción institucional</a:t>
            </a:r>
          </a:p>
        </p:txBody>
      </p:sp>
      <p:sp>
        <p:nvSpPr>
          <p:cNvPr id="186" name="Rectángulo 185">
            <a:extLst>
              <a:ext uri="{FF2B5EF4-FFF2-40B4-BE49-F238E27FC236}">
                <a16:creationId xmlns:a16="http://schemas.microsoft.com/office/drawing/2014/main" id="{0AB0F952-F61E-1E25-2011-AF201D304969}"/>
              </a:ext>
            </a:extLst>
          </p:cNvPr>
          <p:cNvSpPr/>
          <p:nvPr/>
        </p:nvSpPr>
        <p:spPr>
          <a:xfrm>
            <a:off x="6172200" y="2112498"/>
            <a:ext cx="2585425" cy="7981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noProof="0" dirty="0"/>
              <a:t>Sub-aprovechamiento de los servicios en materia ambiental instalados</a:t>
            </a:r>
          </a:p>
        </p:txBody>
      </p:sp>
      <p:sp>
        <p:nvSpPr>
          <p:cNvPr id="188" name="Rectángulo 187">
            <a:extLst>
              <a:ext uri="{FF2B5EF4-FFF2-40B4-BE49-F238E27FC236}">
                <a16:creationId xmlns:a16="http://schemas.microsoft.com/office/drawing/2014/main" id="{2A33A6A0-771F-9F90-2D03-768B68766655}"/>
              </a:ext>
            </a:extLst>
          </p:cNvPr>
          <p:cNvSpPr/>
          <p:nvPr/>
        </p:nvSpPr>
        <p:spPr>
          <a:xfrm>
            <a:off x="8915400" y="2112498"/>
            <a:ext cx="2585425" cy="7981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noProof="0" dirty="0"/>
              <a:t>Necesidades </a:t>
            </a:r>
            <a:r>
              <a:rPr lang="es-PE" sz="1400" dirty="0"/>
              <a:t>desatendidas </a:t>
            </a:r>
            <a:r>
              <a:rPr lang="es-PE" sz="1400" noProof="0" dirty="0"/>
              <a:t>de las personas y otras entidades públicas</a:t>
            </a:r>
          </a:p>
        </p:txBody>
      </p:sp>
      <p:sp>
        <p:nvSpPr>
          <p:cNvPr id="190" name="Rectángulo 189">
            <a:extLst>
              <a:ext uri="{FF2B5EF4-FFF2-40B4-BE49-F238E27FC236}">
                <a16:creationId xmlns:a16="http://schemas.microsoft.com/office/drawing/2014/main" id="{C54BC436-2011-BB49-5C95-4847BC17F7CF}"/>
              </a:ext>
            </a:extLst>
          </p:cNvPr>
          <p:cNvSpPr/>
          <p:nvPr/>
        </p:nvSpPr>
        <p:spPr>
          <a:xfrm>
            <a:off x="585980" y="2112498"/>
            <a:ext cx="2585425" cy="7981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noProof="0" dirty="0"/>
              <a:t>Incurrencia en reprocesos y sobrecostos</a:t>
            </a:r>
          </a:p>
        </p:txBody>
      </p:sp>
      <p:sp>
        <p:nvSpPr>
          <p:cNvPr id="192" name="Rectángulo 191">
            <a:extLst>
              <a:ext uri="{FF2B5EF4-FFF2-40B4-BE49-F238E27FC236}">
                <a16:creationId xmlns:a16="http://schemas.microsoft.com/office/drawing/2014/main" id="{7CD760FC-7A13-D31D-87C7-52173AC7ABCB}"/>
              </a:ext>
            </a:extLst>
          </p:cNvPr>
          <p:cNvSpPr/>
          <p:nvPr/>
        </p:nvSpPr>
        <p:spPr>
          <a:xfrm>
            <a:off x="3329180" y="2112498"/>
            <a:ext cx="2585425" cy="7981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noProof="0" dirty="0"/>
              <a:t>Barreras para la digitalización y automatización</a:t>
            </a:r>
          </a:p>
        </p:txBody>
      </p:sp>
      <p:sp>
        <p:nvSpPr>
          <p:cNvPr id="194" name="Rectángulo 193">
            <a:extLst>
              <a:ext uri="{FF2B5EF4-FFF2-40B4-BE49-F238E27FC236}">
                <a16:creationId xmlns:a16="http://schemas.microsoft.com/office/drawing/2014/main" id="{393DE45E-314C-FC2B-CAF8-F2D3B579A39F}"/>
              </a:ext>
            </a:extLst>
          </p:cNvPr>
          <p:cNvSpPr/>
          <p:nvPr/>
        </p:nvSpPr>
        <p:spPr>
          <a:xfrm>
            <a:off x="11801032" y="2112498"/>
            <a:ext cx="2585425" cy="7981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noProof="0" dirty="0"/>
              <a:t>Pérdida de confianza y legitimidad ciudadana</a:t>
            </a: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C09057A8-9B92-BF1E-D466-9AE78526F3DE}"/>
              </a:ext>
            </a:extLst>
          </p:cNvPr>
          <p:cNvSpPr/>
          <p:nvPr/>
        </p:nvSpPr>
        <p:spPr>
          <a:xfrm>
            <a:off x="14734974" y="2095500"/>
            <a:ext cx="2981180" cy="7981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noProof="0" dirty="0"/>
              <a:t>Menor generación de valor público</a:t>
            </a:r>
          </a:p>
        </p:txBody>
      </p:sp>
      <p:cxnSp>
        <p:nvCxnSpPr>
          <p:cNvPr id="211" name="Conector: angular 210">
            <a:extLst>
              <a:ext uri="{FF2B5EF4-FFF2-40B4-BE49-F238E27FC236}">
                <a16:creationId xmlns:a16="http://schemas.microsoft.com/office/drawing/2014/main" id="{A70EFCA4-E28F-9E03-78BC-5A71AAB1ED6C}"/>
              </a:ext>
            </a:extLst>
          </p:cNvPr>
          <p:cNvCxnSpPr>
            <a:cxnSpLocks/>
            <a:stCxn id="15" idx="0"/>
            <a:endCxn id="12" idx="2"/>
          </p:cNvCxnSpPr>
          <p:nvPr/>
        </p:nvCxnSpPr>
        <p:spPr>
          <a:xfrm rot="16200000" flipV="1">
            <a:off x="8708381" y="3907099"/>
            <a:ext cx="424350" cy="372051"/>
          </a:xfrm>
          <a:prstGeom prst="bentConnector3">
            <a:avLst>
              <a:gd name="adj1" fmla="val 50000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ector: angular 213">
            <a:extLst>
              <a:ext uri="{FF2B5EF4-FFF2-40B4-BE49-F238E27FC236}">
                <a16:creationId xmlns:a16="http://schemas.microsoft.com/office/drawing/2014/main" id="{CA7722AD-C02E-1FBD-7707-B35FC03272C2}"/>
              </a:ext>
            </a:extLst>
          </p:cNvPr>
          <p:cNvCxnSpPr>
            <a:cxnSpLocks/>
            <a:stCxn id="15" idx="0"/>
            <a:endCxn id="13" idx="2"/>
          </p:cNvCxnSpPr>
          <p:nvPr/>
        </p:nvCxnSpPr>
        <p:spPr>
          <a:xfrm rot="16200000" flipV="1">
            <a:off x="6075180" y="1273898"/>
            <a:ext cx="424350" cy="5638453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ector: angular 220">
            <a:extLst>
              <a:ext uri="{FF2B5EF4-FFF2-40B4-BE49-F238E27FC236}">
                <a16:creationId xmlns:a16="http://schemas.microsoft.com/office/drawing/2014/main" id="{3A070FF3-EF5F-2116-BE3E-D491251038BB}"/>
              </a:ext>
            </a:extLst>
          </p:cNvPr>
          <p:cNvCxnSpPr>
            <a:cxnSpLocks/>
            <a:stCxn id="15" idx="0"/>
            <a:endCxn id="184" idx="2"/>
          </p:cNvCxnSpPr>
          <p:nvPr/>
        </p:nvCxnSpPr>
        <p:spPr>
          <a:xfrm rot="5400000" flipH="1" flipV="1">
            <a:off x="10887988" y="2099543"/>
            <a:ext cx="424350" cy="3987164"/>
          </a:xfrm>
          <a:prstGeom prst="bentConnector3">
            <a:avLst>
              <a:gd name="adj1" fmla="val 50000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ector: angular 223">
            <a:extLst>
              <a:ext uri="{FF2B5EF4-FFF2-40B4-BE49-F238E27FC236}">
                <a16:creationId xmlns:a16="http://schemas.microsoft.com/office/drawing/2014/main" id="{1F145D7B-C441-4F2C-A713-39740CE983B0}"/>
              </a:ext>
            </a:extLst>
          </p:cNvPr>
          <p:cNvCxnSpPr>
            <a:cxnSpLocks/>
          </p:cNvCxnSpPr>
          <p:nvPr/>
        </p:nvCxnSpPr>
        <p:spPr>
          <a:xfrm rot="16200000" flipV="1">
            <a:off x="7973908" y="2447963"/>
            <a:ext cx="251625" cy="1269617"/>
          </a:xfrm>
          <a:prstGeom prst="bentConnector3">
            <a:avLst>
              <a:gd name="adj1" fmla="val 50000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ector: angular 226">
            <a:extLst>
              <a:ext uri="{FF2B5EF4-FFF2-40B4-BE49-F238E27FC236}">
                <a16:creationId xmlns:a16="http://schemas.microsoft.com/office/drawing/2014/main" id="{5D18F7B1-3CE9-2D85-7B7D-F36DEC7838F3}"/>
              </a:ext>
            </a:extLst>
          </p:cNvPr>
          <p:cNvCxnSpPr>
            <a:cxnSpLocks/>
            <a:stCxn id="12" idx="0"/>
            <a:endCxn id="188" idx="2"/>
          </p:cNvCxnSpPr>
          <p:nvPr/>
        </p:nvCxnSpPr>
        <p:spPr>
          <a:xfrm rot="5400000" flipH="1" flipV="1">
            <a:off x="9345509" y="2299697"/>
            <a:ext cx="251625" cy="1473583"/>
          </a:xfrm>
          <a:prstGeom prst="bentConnector3">
            <a:avLst>
              <a:gd name="adj1" fmla="val 50000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ector: angular 229">
            <a:extLst>
              <a:ext uri="{FF2B5EF4-FFF2-40B4-BE49-F238E27FC236}">
                <a16:creationId xmlns:a16="http://schemas.microsoft.com/office/drawing/2014/main" id="{F1424DB9-A45D-CF6C-45BF-5ADDC0A360AA}"/>
              </a:ext>
            </a:extLst>
          </p:cNvPr>
          <p:cNvCxnSpPr>
            <a:cxnSpLocks/>
            <a:stCxn id="13" idx="0"/>
            <a:endCxn id="190" idx="2"/>
          </p:cNvCxnSpPr>
          <p:nvPr/>
        </p:nvCxnSpPr>
        <p:spPr>
          <a:xfrm rot="16200000" flipV="1">
            <a:off x="2547599" y="2241770"/>
            <a:ext cx="251625" cy="1589435"/>
          </a:xfrm>
          <a:prstGeom prst="bentConnector3">
            <a:avLst>
              <a:gd name="adj1" fmla="val 50000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ector: angular 232">
            <a:extLst>
              <a:ext uri="{FF2B5EF4-FFF2-40B4-BE49-F238E27FC236}">
                <a16:creationId xmlns:a16="http://schemas.microsoft.com/office/drawing/2014/main" id="{1E2C24F3-F3F3-7317-CA5E-5C74C071E92C}"/>
              </a:ext>
            </a:extLst>
          </p:cNvPr>
          <p:cNvCxnSpPr>
            <a:cxnSpLocks/>
            <a:stCxn id="13" idx="0"/>
            <a:endCxn id="192" idx="2"/>
          </p:cNvCxnSpPr>
          <p:nvPr/>
        </p:nvCxnSpPr>
        <p:spPr>
          <a:xfrm rot="5400000" flipH="1" flipV="1">
            <a:off x="3919198" y="2459606"/>
            <a:ext cx="251625" cy="1153765"/>
          </a:xfrm>
          <a:prstGeom prst="bentConnector3">
            <a:avLst>
              <a:gd name="adj1" fmla="val 50000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ector: angular 250">
            <a:extLst>
              <a:ext uri="{FF2B5EF4-FFF2-40B4-BE49-F238E27FC236}">
                <a16:creationId xmlns:a16="http://schemas.microsoft.com/office/drawing/2014/main" id="{77C35E46-D12D-5B86-D98C-E0FCE7ED2E57}"/>
              </a:ext>
            </a:extLst>
          </p:cNvPr>
          <p:cNvCxnSpPr>
            <a:cxnSpLocks/>
            <a:stCxn id="266" idx="0"/>
            <a:endCxn id="196" idx="2"/>
          </p:cNvCxnSpPr>
          <p:nvPr/>
        </p:nvCxnSpPr>
        <p:spPr>
          <a:xfrm rot="5400000" flipH="1" flipV="1">
            <a:off x="16091253" y="3027989"/>
            <a:ext cx="268623" cy="12700"/>
          </a:xfrm>
          <a:prstGeom prst="bentConnector3">
            <a:avLst>
              <a:gd name="adj1" fmla="val 50000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ector: angular 253">
            <a:extLst>
              <a:ext uri="{FF2B5EF4-FFF2-40B4-BE49-F238E27FC236}">
                <a16:creationId xmlns:a16="http://schemas.microsoft.com/office/drawing/2014/main" id="{804F0A55-7584-8E6C-2ABD-AE16E3A26801}"/>
              </a:ext>
            </a:extLst>
          </p:cNvPr>
          <p:cNvCxnSpPr>
            <a:cxnSpLocks/>
            <a:stCxn id="184" idx="0"/>
            <a:endCxn id="194" idx="2"/>
          </p:cNvCxnSpPr>
          <p:nvPr/>
        </p:nvCxnSpPr>
        <p:spPr>
          <a:xfrm rot="5400000" flipH="1" flipV="1">
            <a:off x="12967933" y="3036488"/>
            <a:ext cx="251625" cy="12700"/>
          </a:xfrm>
          <a:prstGeom prst="bentConnector3">
            <a:avLst>
              <a:gd name="adj1" fmla="val 50000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Rectángulo 265">
            <a:extLst>
              <a:ext uri="{FF2B5EF4-FFF2-40B4-BE49-F238E27FC236}">
                <a16:creationId xmlns:a16="http://schemas.microsoft.com/office/drawing/2014/main" id="{CEE95D2C-6661-2CFC-3881-45B3F49215BC}"/>
              </a:ext>
            </a:extLst>
          </p:cNvPr>
          <p:cNvSpPr/>
          <p:nvPr/>
        </p:nvSpPr>
        <p:spPr>
          <a:xfrm>
            <a:off x="14734974" y="3162300"/>
            <a:ext cx="2981180" cy="7186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noProof="0" dirty="0"/>
              <a:t>Menor efectividad de la gestión pública</a:t>
            </a:r>
          </a:p>
        </p:txBody>
      </p:sp>
      <p:cxnSp>
        <p:nvCxnSpPr>
          <p:cNvPr id="275" name="Conector: angular 274">
            <a:extLst>
              <a:ext uri="{FF2B5EF4-FFF2-40B4-BE49-F238E27FC236}">
                <a16:creationId xmlns:a16="http://schemas.microsoft.com/office/drawing/2014/main" id="{EAD8541A-52E8-23F2-9990-3C2C63202894}"/>
              </a:ext>
            </a:extLst>
          </p:cNvPr>
          <p:cNvCxnSpPr>
            <a:cxnSpLocks/>
            <a:stCxn id="15" idx="0"/>
            <a:endCxn id="266" idx="2"/>
          </p:cNvCxnSpPr>
          <p:nvPr/>
        </p:nvCxnSpPr>
        <p:spPr>
          <a:xfrm rot="5400000" flipH="1" flipV="1">
            <a:off x="12453897" y="533634"/>
            <a:ext cx="424350" cy="7118983"/>
          </a:xfrm>
          <a:prstGeom prst="bentConnector3">
            <a:avLst>
              <a:gd name="adj1" fmla="val 50000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ector: angular 301">
            <a:extLst>
              <a:ext uri="{FF2B5EF4-FFF2-40B4-BE49-F238E27FC236}">
                <a16:creationId xmlns:a16="http://schemas.microsoft.com/office/drawing/2014/main" id="{9343B1E0-9FE5-F0FB-9D51-418682C64ECD}"/>
              </a:ext>
            </a:extLst>
          </p:cNvPr>
          <p:cNvCxnSpPr>
            <a:cxnSpLocks/>
            <a:stCxn id="18" idx="1"/>
            <a:endCxn id="19" idx="2"/>
          </p:cNvCxnSpPr>
          <p:nvPr/>
        </p:nvCxnSpPr>
        <p:spPr>
          <a:xfrm rot="10800000">
            <a:off x="1482410" y="7658102"/>
            <a:ext cx="341284" cy="818111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Conector: angular 304">
            <a:extLst>
              <a:ext uri="{FF2B5EF4-FFF2-40B4-BE49-F238E27FC236}">
                <a16:creationId xmlns:a16="http://schemas.microsoft.com/office/drawing/2014/main" id="{0AD4623A-70C2-EB92-9CED-86C449CF6EED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 rot="5400000">
            <a:off x="3436251" y="7874344"/>
            <a:ext cx="432489" cy="1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Conector: angular 329">
            <a:extLst>
              <a:ext uri="{FF2B5EF4-FFF2-40B4-BE49-F238E27FC236}">
                <a16:creationId xmlns:a16="http://schemas.microsoft.com/office/drawing/2014/main" id="{D637BA11-3620-1F3C-3F28-0F3EA16EAEA0}"/>
              </a:ext>
            </a:extLst>
          </p:cNvPr>
          <p:cNvCxnSpPr>
            <a:cxnSpLocks/>
            <a:stCxn id="90" idx="2"/>
            <a:endCxn id="18" idx="3"/>
          </p:cNvCxnSpPr>
          <p:nvPr/>
        </p:nvCxnSpPr>
        <p:spPr>
          <a:xfrm rot="5400000">
            <a:off x="5245131" y="7890590"/>
            <a:ext cx="821785" cy="349458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ector: angular 340">
            <a:extLst>
              <a:ext uri="{FF2B5EF4-FFF2-40B4-BE49-F238E27FC236}">
                <a16:creationId xmlns:a16="http://schemas.microsoft.com/office/drawing/2014/main" id="{E1080013-321A-4CA4-B7BC-1C2408B538EB}"/>
              </a:ext>
            </a:extLst>
          </p:cNvPr>
          <p:cNvCxnSpPr>
            <a:cxnSpLocks/>
            <a:stCxn id="15" idx="2"/>
            <a:endCxn id="120" idx="0"/>
          </p:cNvCxnSpPr>
          <p:nvPr/>
        </p:nvCxnSpPr>
        <p:spPr>
          <a:xfrm rot="16200000" flipH="1">
            <a:off x="9845992" y="4364066"/>
            <a:ext cx="416821" cy="1895642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Conector: angular 349">
            <a:extLst>
              <a:ext uri="{FF2B5EF4-FFF2-40B4-BE49-F238E27FC236}">
                <a16:creationId xmlns:a16="http://schemas.microsoft.com/office/drawing/2014/main" id="{B2472716-A77F-6276-4B95-63995E16E365}"/>
              </a:ext>
            </a:extLst>
          </p:cNvPr>
          <p:cNvCxnSpPr>
            <a:cxnSpLocks/>
            <a:stCxn id="120" idx="2"/>
            <a:endCxn id="123" idx="0"/>
          </p:cNvCxnSpPr>
          <p:nvPr/>
        </p:nvCxnSpPr>
        <p:spPr>
          <a:xfrm rot="5400000">
            <a:off x="9454528" y="5348404"/>
            <a:ext cx="577624" cy="2517767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Conector: angular 352">
            <a:extLst>
              <a:ext uri="{FF2B5EF4-FFF2-40B4-BE49-F238E27FC236}">
                <a16:creationId xmlns:a16="http://schemas.microsoft.com/office/drawing/2014/main" id="{C9630F58-46A7-7467-6122-B8585242A24B}"/>
              </a:ext>
            </a:extLst>
          </p:cNvPr>
          <p:cNvCxnSpPr>
            <a:cxnSpLocks/>
            <a:stCxn id="120" idx="2"/>
            <a:endCxn id="125" idx="0"/>
          </p:cNvCxnSpPr>
          <p:nvPr/>
        </p:nvCxnSpPr>
        <p:spPr>
          <a:xfrm rot="5400000">
            <a:off x="10701648" y="6614314"/>
            <a:ext cx="596414" cy="4736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Conector: angular 355">
            <a:extLst>
              <a:ext uri="{FF2B5EF4-FFF2-40B4-BE49-F238E27FC236}">
                <a16:creationId xmlns:a16="http://schemas.microsoft.com/office/drawing/2014/main" id="{46AEA959-BA59-ECFF-714A-D32F9A425FD9}"/>
              </a:ext>
            </a:extLst>
          </p:cNvPr>
          <p:cNvCxnSpPr>
            <a:cxnSpLocks/>
            <a:stCxn id="120" idx="2"/>
            <a:endCxn id="127" idx="0"/>
          </p:cNvCxnSpPr>
          <p:nvPr/>
        </p:nvCxnSpPr>
        <p:spPr>
          <a:xfrm rot="16200000" flipH="1">
            <a:off x="11928370" y="5392327"/>
            <a:ext cx="596415" cy="2448709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onector: angular 362">
            <a:extLst>
              <a:ext uri="{FF2B5EF4-FFF2-40B4-BE49-F238E27FC236}">
                <a16:creationId xmlns:a16="http://schemas.microsoft.com/office/drawing/2014/main" id="{EFC3C5D2-3E33-AFED-864C-45483478A339}"/>
              </a:ext>
            </a:extLst>
          </p:cNvPr>
          <p:cNvCxnSpPr>
            <a:cxnSpLocks/>
            <a:stCxn id="174" idx="1"/>
            <a:endCxn id="123" idx="2"/>
          </p:cNvCxnSpPr>
          <p:nvPr/>
        </p:nvCxnSpPr>
        <p:spPr>
          <a:xfrm rot="10800000">
            <a:off x="8484457" y="7694276"/>
            <a:ext cx="146871" cy="756666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Conector: angular 365">
            <a:extLst>
              <a:ext uri="{FF2B5EF4-FFF2-40B4-BE49-F238E27FC236}">
                <a16:creationId xmlns:a16="http://schemas.microsoft.com/office/drawing/2014/main" id="{4E779433-9F06-7A9A-7609-651262743292}"/>
              </a:ext>
            </a:extLst>
          </p:cNvPr>
          <p:cNvCxnSpPr>
            <a:cxnSpLocks/>
            <a:stCxn id="174" idx="3"/>
            <a:endCxn id="125" idx="2"/>
          </p:cNvCxnSpPr>
          <p:nvPr/>
        </p:nvCxnSpPr>
        <p:spPr>
          <a:xfrm flipV="1">
            <a:off x="10827651" y="7686766"/>
            <a:ext cx="169836" cy="764176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8" name="Rectángulo 387">
            <a:extLst>
              <a:ext uri="{FF2B5EF4-FFF2-40B4-BE49-F238E27FC236}">
                <a16:creationId xmlns:a16="http://schemas.microsoft.com/office/drawing/2014/main" id="{ACC74562-749F-FE8E-C8F3-3921C2784DF7}"/>
              </a:ext>
            </a:extLst>
          </p:cNvPr>
          <p:cNvSpPr/>
          <p:nvPr/>
        </p:nvSpPr>
        <p:spPr>
          <a:xfrm>
            <a:off x="14625294" y="5551031"/>
            <a:ext cx="3357906" cy="7981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Diseño de servicios públicos </a:t>
            </a:r>
            <a:r>
              <a:rPr lang="es-ES" sz="1600" b="1" dirty="0">
                <a:solidFill>
                  <a:schemeClr val="tx1"/>
                </a:solidFill>
              </a:rPr>
              <a:t>que no responde oportunamente </a:t>
            </a:r>
            <a:r>
              <a:rPr lang="es-ES" sz="1600" dirty="0">
                <a:solidFill>
                  <a:schemeClr val="tx1"/>
                </a:solidFill>
              </a:rPr>
              <a:t>a las necesidades de los usuarios</a:t>
            </a:r>
            <a:endParaRPr lang="es-PE" sz="1600" dirty="0">
              <a:solidFill>
                <a:schemeClr val="tx1"/>
              </a:solidFill>
            </a:endParaRPr>
          </a:p>
        </p:txBody>
      </p:sp>
      <p:cxnSp>
        <p:nvCxnSpPr>
          <p:cNvPr id="389" name="Conector: angular 388">
            <a:extLst>
              <a:ext uri="{FF2B5EF4-FFF2-40B4-BE49-F238E27FC236}">
                <a16:creationId xmlns:a16="http://schemas.microsoft.com/office/drawing/2014/main" id="{4BCD8226-F0A4-606D-03DE-857BE1813298}"/>
              </a:ext>
            </a:extLst>
          </p:cNvPr>
          <p:cNvCxnSpPr>
            <a:cxnSpLocks/>
            <a:stCxn id="15" idx="2"/>
            <a:endCxn id="388" idx="0"/>
          </p:cNvCxnSpPr>
          <p:nvPr/>
        </p:nvCxnSpPr>
        <p:spPr>
          <a:xfrm rot="16200000" flipH="1">
            <a:off x="12481637" y="1728421"/>
            <a:ext cx="447554" cy="7197666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3" name="Rectángulo 392">
            <a:extLst>
              <a:ext uri="{FF2B5EF4-FFF2-40B4-BE49-F238E27FC236}">
                <a16:creationId xmlns:a16="http://schemas.microsoft.com/office/drawing/2014/main" id="{497DEB04-2512-2FEE-85B9-A0FE3B2CAA28}"/>
              </a:ext>
            </a:extLst>
          </p:cNvPr>
          <p:cNvSpPr/>
          <p:nvPr/>
        </p:nvSpPr>
        <p:spPr>
          <a:xfrm>
            <a:off x="15069271" y="6896099"/>
            <a:ext cx="2466209" cy="7906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chemeClr val="tx1"/>
                </a:solidFill>
              </a:rPr>
              <a:t>Ausencia identificación de necesidades y expectativas sobre el servicio</a:t>
            </a:r>
          </a:p>
        </p:txBody>
      </p:sp>
      <p:cxnSp>
        <p:nvCxnSpPr>
          <p:cNvPr id="395" name="Conector: angular 394">
            <a:extLst>
              <a:ext uri="{FF2B5EF4-FFF2-40B4-BE49-F238E27FC236}">
                <a16:creationId xmlns:a16="http://schemas.microsoft.com/office/drawing/2014/main" id="{F3CA3E78-D49F-D390-CC35-314D9F08ED64}"/>
              </a:ext>
            </a:extLst>
          </p:cNvPr>
          <p:cNvCxnSpPr>
            <a:cxnSpLocks/>
            <a:stCxn id="388" idx="2"/>
            <a:endCxn id="393" idx="0"/>
          </p:cNvCxnSpPr>
          <p:nvPr/>
        </p:nvCxnSpPr>
        <p:spPr>
          <a:xfrm rot="5400000">
            <a:off x="16029866" y="6621718"/>
            <a:ext cx="546892" cy="1871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" name="Rectángulo 411">
            <a:extLst>
              <a:ext uri="{FF2B5EF4-FFF2-40B4-BE49-F238E27FC236}">
                <a16:creationId xmlns:a16="http://schemas.microsoft.com/office/drawing/2014/main" id="{501A1784-63A5-2DF3-F86D-B8CF0A194939}"/>
              </a:ext>
            </a:extLst>
          </p:cNvPr>
          <p:cNvSpPr/>
          <p:nvPr/>
        </p:nvSpPr>
        <p:spPr>
          <a:xfrm>
            <a:off x="15069021" y="8090589"/>
            <a:ext cx="2466209" cy="7981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chemeClr val="tx1"/>
                </a:solidFill>
              </a:rPr>
              <a:t>Limitada coordinación y/o articulación entre entidades del Sector Público</a:t>
            </a:r>
          </a:p>
        </p:txBody>
      </p: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AE7EA07B-EC29-2542-B8CE-BF949BB9E173}"/>
              </a:ext>
            </a:extLst>
          </p:cNvPr>
          <p:cNvCxnSpPr>
            <a:stCxn id="393" idx="2"/>
            <a:endCxn id="412" idx="0"/>
          </p:cNvCxnSpPr>
          <p:nvPr/>
        </p:nvCxnSpPr>
        <p:spPr>
          <a:xfrm flipH="1">
            <a:off x="16302126" y="7686766"/>
            <a:ext cx="250" cy="403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386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4703</TotalTime>
  <Words>232</Words>
  <Application>Microsoft Office PowerPoint</Application>
  <PresentationFormat>Personalizado</PresentationFormat>
  <Paragraphs>26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Calibri</vt:lpstr>
      <vt:lpstr>Poppins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EJECUCIÓN PRESUPUESTAL 2026 -   OPPMI</dc:title>
  <dc:creator>yessica alvarado</dc:creator>
  <cp:lastModifiedBy>Irwing Aspajo Grandez</cp:lastModifiedBy>
  <cp:revision>223</cp:revision>
  <dcterms:created xsi:type="dcterms:W3CDTF">2006-08-16T00:00:00Z</dcterms:created>
  <dcterms:modified xsi:type="dcterms:W3CDTF">2026-10-16T21:34:38Z</dcterms:modified>
  <dc:identifier>DAHFE-DtGLQ</dc:identifier>
</cp:coreProperties>
</file>