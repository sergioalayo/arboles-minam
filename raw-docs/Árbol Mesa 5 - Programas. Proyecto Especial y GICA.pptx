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427" r:id="rId2"/>
  </p:sldIdLst>
  <p:sldSz cx="18288000" cy="10287000"/>
  <p:notesSz cx="6797675" cy="9928225"/>
  <p:embeddedFontLst>
    <p:embeddedFont>
      <p:font typeface="Cambria" panose="02040503050406030204" pitchFamily="18" charset="0"/>
      <p:regular r:id="rId4"/>
      <p:bold r:id="rId5"/>
      <p:italic r:id="rId6"/>
      <p:boldItalic r:id="rId7"/>
    </p:embeddedFont>
    <p:embeddedFont>
      <p:font typeface="Poppins Bold" panose="020B0604020202020204" charset="0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CE1"/>
    <a:srgbClr val="CCFFCC"/>
    <a:srgbClr val="66FF99"/>
    <a:srgbClr val="215968"/>
    <a:srgbClr val="31859C"/>
    <a:srgbClr val="D99694"/>
    <a:srgbClr val="FFAA00"/>
    <a:srgbClr val="03C3E6"/>
    <a:srgbClr val="004AAD"/>
    <a:srgbClr val="4D7F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83" autoAdjust="0"/>
    <p:restoredTop sz="94539" autoAdjust="0"/>
  </p:normalViewPr>
  <p:slideViewPr>
    <p:cSldViewPr>
      <p:cViewPr>
        <p:scale>
          <a:sx n="66" d="100"/>
          <a:sy n="66" d="100"/>
        </p:scale>
        <p:origin x="1356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229C3-64E2-4D4B-A036-4574D28EBDE2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BE3E64-4FE9-4A56-A7D9-8C5ABB22C4A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222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A3C3C-BC8C-70C1-DCAC-5F9BE261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6062C7-6602-C8B5-A30A-D449874DA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BCBEF40-508D-47B3-DC56-76C5836BC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62DBC8-BCA3-F5E7-B3A8-C4AB22D7FE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BE3E64-4FE9-4A56-A7D9-8C5ABB22C4AC}" type="slidenum">
              <a:rPr lang="es-PE" smtClean="0"/>
              <a:t>1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41196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B34F6-DC4D-A915-E020-C94C79B6E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adroTexto 137">
            <a:extLst>
              <a:ext uri="{FF2B5EF4-FFF2-40B4-BE49-F238E27FC236}">
                <a16:creationId xmlns:a16="http://schemas.microsoft.com/office/drawing/2014/main" id="{48FB5926-B559-234D-F5CC-5183FE30A2DD}"/>
              </a:ext>
            </a:extLst>
          </p:cNvPr>
          <p:cNvSpPr txBox="1"/>
          <p:nvPr/>
        </p:nvSpPr>
        <p:spPr>
          <a:xfrm>
            <a:off x="2709869" y="109838"/>
            <a:ext cx="116978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2000" noProof="0" dirty="0">
                <a:solidFill>
                  <a:schemeClr val="accent5">
                    <a:lumMod val="50000"/>
                  </a:schemeClr>
                </a:solidFill>
                <a:latin typeface="Poppins Bold" panose="00000800000000000000" charset="0"/>
                <a:cs typeface="Poppins Bold" panose="00000800000000000000" charset="0"/>
              </a:rPr>
              <a:t>Árbol de Problema (Mesa 5)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A88B061-B88D-E297-7B17-41400320FA2F}"/>
              </a:ext>
            </a:extLst>
          </p:cNvPr>
          <p:cNvSpPr/>
          <p:nvPr/>
        </p:nvSpPr>
        <p:spPr>
          <a:xfrm>
            <a:off x="7987836" y="3099233"/>
            <a:ext cx="3996398" cy="7186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">
              <a:buNone/>
            </a:pPr>
            <a:endParaRPr lang="es-PE" sz="1400" dirty="0"/>
          </a:p>
          <a:p>
            <a:pPr algn="ctr" fontAlgn="b">
              <a:buNone/>
            </a:pPr>
            <a:r>
              <a:rPr lang="es-PE" sz="1400" dirty="0"/>
              <a:t>ED 1</a:t>
            </a:r>
            <a:br>
              <a:rPr lang="es-PE" sz="1400" dirty="0"/>
            </a:br>
            <a:r>
              <a:rPr lang="es-PE" sz="1400" dirty="0"/>
              <a:t>Retrasos, paralizaciones y controversias en la ejecución de obras</a:t>
            </a:r>
            <a:br>
              <a:rPr lang="es-PE" sz="1400" dirty="0"/>
            </a:br>
            <a:endParaRPr lang="es-PE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DDD5087-FCBD-AA90-C002-3C7338AFF977}"/>
              </a:ext>
            </a:extLst>
          </p:cNvPr>
          <p:cNvSpPr/>
          <p:nvPr/>
        </p:nvSpPr>
        <p:spPr>
          <a:xfrm>
            <a:off x="2777431" y="3089808"/>
            <a:ext cx="4290326" cy="7186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ED 2</a:t>
            </a:r>
          </a:p>
          <a:p>
            <a:pPr algn="ctr"/>
            <a:r>
              <a:rPr lang="es-ES" sz="1400" dirty="0"/>
              <a:t>Riesgo de pérdida de financiamiento externo y devolución de recursos no ejecutados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DD00D83-24B6-29A8-4689-87AFEF2976B4}"/>
              </a:ext>
            </a:extLst>
          </p:cNvPr>
          <p:cNvSpPr/>
          <p:nvPr/>
        </p:nvSpPr>
        <p:spPr>
          <a:xfrm>
            <a:off x="533400" y="4305300"/>
            <a:ext cx="17146361" cy="7981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/>
                </a:solidFill>
              </a:rPr>
              <a:t>Limitada capacidad de las unidades ejecutoras y programas del MINAM para ejecutar sus intervenciones</a:t>
            </a:r>
            <a:endParaRPr lang="es-PE" sz="2800" b="1" noProof="0" dirty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1327A77-AC7F-B866-90D0-1EF025694E9E}"/>
              </a:ext>
            </a:extLst>
          </p:cNvPr>
          <p:cNvSpPr/>
          <p:nvPr/>
        </p:nvSpPr>
        <p:spPr>
          <a:xfrm>
            <a:off x="533401" y="5526186"/>
            <a:ext cx="3505196" cy="7981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b="1" dirty="0">
                <a:solidFill>
                  <a:schemeClr val="tx1"/>
                </a:solidFill>
              </a:rPr>
              <a:t>CD 1</a:t>
            </a:r>
            <a:br>
              <a:rPr lang="es-PE" sz="1200" b="1" dirty="0">
                <a:solidFill>
                  <a:schemeClr val="tx1"/>
                </a:solidFill>
              </a:rPr>
            </a:br>
            <a:r>
              <a:rPr lang="es-PE" sz="1200" b="1" dirty="0">
                <a:solidFill>
                  <a:schemeClr val="tx1"/>
                </a:solidFill>
              </a:rPr>
              <a:t>Debilidades en la Planificación, Articulación y Ejecución de las Intervenciones</a:t>
            </a:r>
            <a:endParaRPr lang="es-PE" sz="1200" noProof="0" dirty="0">
              <a:solidFill>
                <a:schemeClr val="tx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9CBFD44-5737-EEA9-5E0A-F43937A0A389}"/>
              </a:ext>
            </a:extLst>
          </p:cNvPr>
          <p:cNvSpPr/>
          <p:nvPr/>
        </p:nvSpPr>
        <p:spPr>
          <a:xfrm>
            <a:off x="965200" y="6519564"/>
            <a:ext cx="2625790" cy="845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00" dirty="0">
              <a:solidFill>
                <a:schemeClr val="tx1"/>
              </a:solidFill>
            </a:endParaRPr>
          </a:p>
          <a:p>
            <a:pPr algn="ctr"/>
            <a:r>
              <a:rPr lang="es-PE" sz="1000" dirty="0">
                <a:solidFill>
                  <a:schemeClr val="tx1"/>
                </a:solidFill>
              </a:rPr>
              <a:t>CI 1.1</a:t>
            </a:r>
          </a:p>
          <a:p>
            <a:pPr algn="ctr"/>
            <a:r>
              <a:rPr lang="es-PE" sz="1000" dirty="0">
                <a:solidFill>
                  <a:schemeClr val="tx1"/>
                </a:solidFill>
              </a:rPr>
              <a:t>Débil proceso de evaluación de desempeño y/o de Impacto de las intervenciones </a:t>
            </a:r>
            <a:br>
              <a:rPr lang="es-PE" sz="1000" dirty="0">
                <a:solidFill>
                  <a:schemeClr val="tx1"/>
                </a:solidFill>
              </a:rPr>
            </a:br>
            <a:br>
              <a:rPr lang="es-PE" sz="1000" dirty="0">
                <a:solidFill>
                  <a:schemeClr val="tx1"/>
                </a:solidFill>
              </a:rPr>
            </a:br>
            <a:endParaRPr lang="es-PE" sz="1000" dirty="0">
              <a:solidFill>
                <a:schemeClr val="tx1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7587E58-0E7A-F976-A7E0-6B709769E8ED}"/>
              </a:ext>
            </a:extLst>
          </p:cNvPr>
          <p:cNvSpPr/>
          <p:nvPr/>
        </p:nvSpPr>
        <p:spPr>
          <a:xfrm>
            <a:off x="965200" y="7575939"/>
            <a:ext cx="2625790" cy="7981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00" dirty="0">
              <a:solidFill>
                <a:schemeClr val="tx1"/>
              </a:solidFill>
            </a:endParaRPr>
          </a:p>
          <a:p>
            <a:pPr algn="ctr"/>
            <a:r>
              <a:rPr lang="es-PE" sz="1000" dirty="0">
                <a:solidFill>
                  <a:schemeClr val="tx1"/>
                </a:solidFill>
              </a:rPr>
              <a:t>CI 1.2</a:t>
            </a:r>
            <a:br>
              <a:rPr lang="es-PE" sz="1000" dirty="0">
                <a:solidFill>
                  <a:schemeClr val="tx1"/>
                </a:solidFill>
              </a:rPr>
            </a:br>
            <a:r>
              <a:rPr lang="es-PE" sz="1000" dirty="0">
                <a:solidFill>
                  <a:schemeClr val="tx1"/>
                </a:solidFill>
              </a:rPr>
              <a:t>      Limitaciones en la programación y ejecución de inversiones y en la disponibilidad de ET y terrenos saneados.</a:t>
            </a:r>
            <a:br>
              <a:rPr lang="es-PE" sz="1000" dirty="0">
                <a:solidFill>
                  <a:schemeClr val="tx1"/>
                </a:solidFill>
              </a:rPr>
            </a:br>
            <a:endParaRPr lang="es-PE" sz="1000" dirty="0">
              <a:solidFill>
                <a:schemeClr val="tx1"/>
              </a:solidFill>
            </a:endParaRPr>
          </a:p>
        </p:txBody>
      </p:sp>
      <p:cxnSp>
        <p:nvCxnSpPr>
          <p:cNvPr id="35" name="Conector: angular 34">
            <a:extLst>
              <a:ext uri="{FF2B5EF4-FFF2-40B4-BE49-F238E27FC236}">
                <a16:creationId xmlns:a16="http://schemas.microsoft.com/office/drawing/2014/main" id="{A66446C6-320E-B427-5413-E2F891337CAA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rot="5400000">
            <a:off x="5484936" y="1904540"/>
            <a:ext cx="422709" cy="6820582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ángulo 89">
            <a:extLst>
              <a:ext uri="{FF2B5EF4-FFF2-40B4-BE49-F238E27FC236}">
                <a16:creationId xmlns:a16="http://schemas.microsoft.com/office/drawing/2014/main" id="{83A3DC08-266B-B4C2-A61A-3EFF120D713D}"/>
              </a:ext>
            </a:extLst>
          </p:cNvPr>
          <p:cNvSpPr/>
          <p:nvPr/>
        </p:nvSpPr>
        <p:spPr>
          <a:xfrm>
            <a:off x="965200" y="8557601"/>
            <a:ext cx="2625790" cy="7433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00" dirty="0">
              <a:solidFill>
                <a:schemeClr val="tx1"/>
              </a:solidFill>
            </a:endParaRPr>
          </a:p>
          <a:p>
            <a:pPr algn="ctr"/>
            <a:r>
              <a:rPr lang="es-PE" sz="1000" dirty="0">
                <a:solidFill>
                  <a:schemeClr val="tx1"/>
                </a:solidFill>
              </a:rPr>
              <a:t>CI 1.3</a:t>
            </a:r>
            <a:br>
              <a:rPr lang="es-PE" sz="1000" dirty="0">
                <a:solidFill>
                  <a:schemeClr val="tx1"/>
                </a:solidFill>
              </a:rPr>
            </a:br>
            <a:r>
              <a:rPr lang="es-PE" sz="1000" dirty="0">
                <a:solidFill>
                  <a:schemeClr val="tx1"/>
                </a:solidFill>
              </a:rPr>
              <a:t>Estructura organizada por presupuesto asignado y no por procesos</a:t>
            </a:r>
            <a:br>
              <a:rPr lang="es-PE" sz="1000" dirty="0">
                <a:solidFill>
                  <a:schemeClr val="tx1"/>
                </a:solidFill>
              </a:rPr>
            </a:br>
            <a:endParaRPr lang="es-PE" sz="1000" dirty="0">
              <a:solidFill>
                <a:schemeClr val="tx1"/>
              </a:solidFill>
            </a:endParaRPr>
          </a:p>
        </p:txBody>
      </p:sp>
      <p:sp>
        <p:nvSpPr>
          <p:cNvPr id="120" name="Rectángulo 119">
            <a:extLst>
              <a:ext uri="{FF2B5EF4-FFF2-40B4-BE49-F238E27FC236}">
                <a16:creationId xmlns:a16="http://schemas.microsoft.com/office/drawing/2014/main" id="{10F4D3FB-48DF-5DCE-7302-70026255273C}"/>
              </a:ext>
            </a:extLst>
          </p:cNvPr>
          <p:cNvSpPr/>
          <p:nvPr/>
        </p:nvSpPr>
        <p:spPr>
          <a:xfrm>
            <a:off x="9163830" y="5507468"/>
            <a:ext cx="3014292" cy="7981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b="1" dirty="0">
                <a:solidFill>
                  <a:schemeClr val="tx1"/>
                </a:solidFill>
              </a:rPr>
              <a:t>CD 3</a:t>
            </a:r>
            <a:br>
              <a:rPr lang="es-PE" sz="1200" b="1" dirty="0">
                <a:solidFill>
                  <a:schemeClr val="tx1"/>
                </a:solidFill>
              </a:rPr>
            </a:br>
            <a:r>
              <a:rPr lang="es-PE" sz="1200" b="1" dirty="0">
                <a:solidFill>
                  <a:schemeClr val="tx1"/>
                </a:solidFill>
              </a:rPr>
              <a:t>Débiles mecanismos de supervisión, seguimiento y control de las inversiones</a:t>
            </a:r>
            <a:endParaRPr lang="es-PE" sz="1100" dirty="0">
              <a:solidFill>
                <a:schemeClr val="tx1"/>
              </a:solidFill>
            </a:endParaRPr>
          </a:p>
        </p:txBody>
      </p:sp>
      <p:sp>
        <p:nvSpPr>
          <p:cNvPr id="123" name="Rectángulo 122">
            <a:extLst>
              <a:ext uri="{FF2B5EF4-FFF2-40B4-BE49-F238E27FC236}">
                <a16:creationId xmlns:a16="http://schemas.microsoft.com/office/drawing/2014/main" id="{A6DB8970-276D-FEF2-7ECE-73BB409C6EA7}"/>
              </a:ext>
            </a:extLst>
          </p:cNvPr>
          <p:cNvSpPr/>
          <p:nvPr/>
        </p:nvSpPr>
        <p:spPr>
          <a:xfrm>
            <a:off x="9437873" y="6534397"/>
            <a:ext cx="2466208" cy="7981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sz="1000" dirty="0">
              <a:solidFill>
                <a:schemeClr val="tx1"/>
              </a:solidFill>
            </a:endParaRPr>
          </a:p>
          <a:p>
            <a:endParaRPr lang="es-PE" sz="1000" dirty="0">
              <a:solidFill>
                <a:schemeClr val="tx1"/>
              </a:solidFill>
            </a:endParaRPr>
          </a:p>
          <a:p>
            <a:pPr algn="ctr"/>
            <a:r>
              <a:rPr lang="es-PE" sz="1000" dirty="0">
                <a:solidFill>
                  <a:schemeClr val="tx1"/>
                </a:solidFill>
              </a:rPr>
              <a:t>CI 3.1</a:t>
            </a:r>
          </a:p>
          <a:p>
            <a:pPr algn="ctr"/>
            <a:r>
              <a:rPr lang="es-PE" sz="1000" dirty="0">
                <a:solidFill>
                  <a:schemeClr val="dk1"/>
                </a:solidFill>
              </a:rPr>
              <a:t>Planificación y priorización insuficientemente articuladas con las brechas ambientales y las necesidades del territorio.</a:t>
            </a:r>
          </a:p>
          <a:p>
            <a:pPr algn="ctr"/>
            <a:br>
              <a:rPr lang="es-PE" sz="1000" dirty="0">
                <a:solidFill>
                  <a:schemeClr val="tx1"/>
                </a:solidFill>
              </a:rPr>
            </a:br>
            <a:endParaRPr lang="es-PE" sz="800" dirty="0">
              <a:solidFill>
                <a:schemeClr val="tx1"/>
              </a:solidFill>
            </a:endParaRPr>
          </a:p>
        </p:txBody>
      </p:sp>
      <p:sp>
        <p:nvSpPr>
          <p:cNvPr id="125" name="Rectángulo 124">
            <a:extLst>
              <a:ext uri="{FF2B5EF4-FFF2-40B4-BE49-F238E27FC236}">
                <a16:creationId xmlns:a16="http://schemas.microsoft.com/office/drawing/2014/main" id="{D42CBB7C-13ED-F75C-6DEC-CD1C5A03C293}"/>
              </a:ext>
            </a:extLst>
          </p:cNvPr>
          <p:cNvSpPr/>
          <p:nvPr/>
        </p:nvSpPr>
        <p:spPr>
          <a:xfrm>
            <a:off x="9437872" y="7510474"/>
            <a:ext cx="2466208" cy="7718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>
                <a:solidFill>
                  <a:schemeClr val="tx1"/>
                </a:solidFill>
              </a:rPr>
              <a:t>CI 3.2</a:t>
            </a:r>
            <a:br>
              <a:rPr lang="es-PE" sz="1000" dirty="0">
                <a:solidFill>
                  <a:schemeClr val="tx1"/>
                </a:solidFill>
              </a:rPr>
            </a:br>
            <a:r>
              <a:rPr lang="es-PE" sz="1000" dirty="0">
                <a:solidFill>
                  <a:schemeClr val="dk1"/>
                </a:solidFill>
              </a:rPr>
              <a:t>Limitaciones en la programación y ejecución de inversiones y en la disponibilidad de expedientes técnicos y terrenos saneados.</a:t>
            </a:r>
          </a:p>
          <a:p>
            <a:pPr algn="ctr"/>
            <a:endParaRPr lang="es-PE" sz="800" dirty="0">
              <a:solidFill>
                <a:schemeClr val="tx1"/>
              </a:solidFill>
            </a:endParaRPr>
          </a:p>
        </p:txBody>
      </p: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BF443F3B-D87A-2032-C876-4E78948D7240}"/>
              </a:ext>
            </a:extLst>
          </p:cNvPr>
          <p:cNvSpPr/>
          <p:nvPr/>
        </p:nvSpPr>
        <p:spPr>
          <a:xfrm>
            <a:off x="9437872" y="8427422"/>
            <a:ext cx="2466208" cy="7793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>
                <a:solidFill>
                  <a:schemeClr val="tx1"/>
                </a:solidFill>
              </a:rPr>
              <a:t>CI 3.3</a:t>
            </a:r>
          </a:p>
          <a:p>
            <a:pPr algn="ctr"/>
            <a:r>
              <a:rPr lang="es-PE" sz="1000" dirty="0">
                <a:solidFill>
                  <a:schemeClr val="dk1"/>
                </a:solidFill>
              </a:rPr>
              <a:t>Debilidades en el seguimiento de inversiones, sistemas de información y sostenibilidad financiera.</a:t>
            </a:r>
          </a:p>
        </p:txBody>
      </p:sp>
      <p:sp>
        <p:nvSpPr>
          <p:cNvPr id="184" name="Rectángulo 183">
            <a:extLst>
              <a:ext uri="{FF2B5EF4-FFF2-40B4-BE49-F238E27FC236}">
                <a16:creationId xmlns:a16="http://schemas.microsoft.com/office/drawing/2014/main" id="{3604BD8E-8297-7D6C-CAB1-A275EA22B7B5}"/>
              </a:ext>
            </a:extLst>
          </p:cNvPr>
          <p:cNvSpPr/>
          <p:nvPr/>
        </p:nvSpPr>
        <p:spPr>
          <a:xfrm>
            <a:off x="10845814" y="1764300"/>
            <a:ext cx="5966316" cy="7981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EI3  </a:t>
            </a:r>
          </a:p>
          <a:p>
            <a:pPr algn="ctr"/>
            <a:r>
              <a:rPr lang="es-ES" sz="1400" dirty="0"/>
              <a:t>Pérdida de confianza de cooperantes, MEF y gobiernos locales en la capacidad de ejecución del MINAM</a:t>
            </a:r>
          </a:p>
        </p:txBody>
      </p:sp>
      <p:sp>
        <p:nvSpPr>
          <p:cNvPr id="188" name="Rectángulo 187">
            <a:extLst>
              <a:ext uri="{FF2B5EF4-FFF2-40B4-BE49-F238E27FC236}">
                <a16:creationId xmlns:a16="http://schemas.microsoft.com/office/drawing/2014/main" id="{2A33A6A0-771F-9F90-2D03-768B68766655}"/>
              </a:ext>
            </a:extLst>
          </p:cNvPr>
          <p:cNvSpPr/>
          <p:nvPr/>
        </p:nvSpPr>
        <p:spPr>
          <a:xfrm>
            <a:off x="1981200" y="828109"/>
            <a:ext cx="14006908" cy="583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Persistencia de brechas ambientales estructurales en el territorio</a:t>
            </a:r>
            <a:endParaRPr lang="es-PE" sz="2400" b="1" noProof="0" dirty="0"/>
          </a:p>
        </p:txBody>
      </p:sp>
      <p:cxnSp>
        <p:nvCxnSpPr>
          <p:cNvPr id="211" name="Conector: angular 210">
            <a:extLst>
              <a:ext uri="{FF2B5EF4-FFF2-40B4-BE49-F238E27FC236}">
                <a16:creationId xmlns:a16="http://schemas.microsoft.com/office/drawing/2014/main" id="{A70EFCA4-E28F-9E03-78BC-5A71AAB1ED6C}"/>
              </a:ext>
            </a:extLst>
          </p:cNvPr>
          <p:cNvCxnSpPr>
            <a:cxnSpLocks/>
            <a:stCxn id="15" idx="0"/>
            <a:endCxn id="12" idx="2"/>
          </p:cNvCxnSpPr>
          <p:nvPr/>
        </p:nvCxnSpPr>
        <p:spPr>
          <a:xfrm rot="5400000" flipH="1" flipV="1">
            <a:off x="9302600" y="3621865"/>
            <a:ext cx="487417" cy="879454"/>
          </a:xfrm>
          <a:prstGeom prst="bentConnector3">
            <a:avLst>
              <a:gd name="adj1" fmla="val 50000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ector: angular 213">
            <a:extLst>
              <a:ext uri="{FF2B5EF4-FFF2-40B4-BE49-F238E27FC236}">
                <a16:creationId xmlns:a16="http://schemas.microsoft.com/office/drawing/2014/main" id="{CA7722AD-C02E-1FBD-7707-B35FC03272C2}"/>
              </a:ext>
            </a:extLst>
          </p:cNvPr>
          <p:cNvCxnSpPr>
            <a:cxnSpLocks/>
            <a:stCxn id="15" idx="0"/>
            <a:endCxn id="13" idx="2"/>
          </p:cNvCxnSpPr>
          <p:nvPr/>
        </p:nvCxnSpPr>
        <p:spPr>
          <a:xfrm rot="16200000" flipV="1">
            <a:off x="6766167" y="1964885"/>
            <a:ext cx="496842" cy="4183987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Rectángulo 265">
            <a:extLst>
              <a:ext uri="{FF2B5EF4-FFF2-40B4-BE49-F238E27FC236}">
                <a16:creationId xmlns:a16="http://schemas.microsoft.com/office/drawing/2014/main" id="{CEE95D2C-6661-2CFC-3881-45B3F49215BC}"/>
              </a:ext>
            </a:extLst>
          </p:cNvPr>
          <p:cNvSpPr/>
          <p:nvPr/>
        </p:nvSpPr>
        <p:spPr>
          <a:xfrm>
            <a:off x="14691934" y="3108658"/>
            <a:ext cx="2981180" cy="7186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/>
              <a:t>ED 3</a:t>
            </a:r>
          </a:p>
          <a:p>
            <a:pPr algn="ctr"/>
            <a:r>
              <a:rPr lang="es-ES" sz="1400" dirty="0"/>
              <a:t>Irregularidades sin responsables exigibles</a:t>
            </a:r>
          </a:p>
        </p:txBody>
      </p:sp>
      <p:cxnSp>
        <p:nvCxnSpPr>
          <p:cNvPr id="275" name="Conector: angular 274">
            <a:extLst>
              <a:ext uri="{FF2B5EF4-FFF2-40B4-BE49-F238E27FC236}">
                <a16:creationId xmlns:a16="http://schemas.microsoft.com/office/drawing/2014/main" id="{EAD8541A-52E8-23F2-9990-3C2C63202894}"/>
              </a:ext>
            </a:extLst>
          </p:cNvPr>
          <p:cNvCxnSpPr>
            <a:cxnSpLocks/>
            <a:stCxn id="15" idx="0"/>
            <a:endCxn id="266" idx="2"/>
          </p:cNvCxnSpPr>
          <p:nvPr/>
        </p:nvCxnSpPr>
        <p:spPr>
          <a:xfrm rot="5400000" flipH="1" flipV="1">
            <a:off x="12405556" y="528333"/>
            <a:ext cx="477992" cy="7075943"/>
          </a:xfrm>
          <a:prstGeom prst="bentConnector3">
            <a:avLst>
              <a:gd name="adj1" fmla="val 50000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ector: angular 340">
            <a:extLst>
              <a:ext uri="{FF2B5EF4-FFF2-40B4-BE49-F238E27FC236}">
                <a16:creationId xmlns:a16="http://schemas.microsoft.com/office/drawing/2014/main" id="{E1080013-321A-4CA4-B7BC-1C2408B538EB}"/>
              </a:ext>
            </a:extLst>
          </p:cNvPr>
          <p:cNvCxnSpPr>
            <a:cxnSpLocks/>
            <a:endCxn id="74" idx="0"/>
          </p:cNvCxnSpPr>
          <p:nvPr/>
        </p:nvCxnSpPr>
        <p:spPr>
          <a:xfrm>
            <a:off x="9106580" y="5329434"/>
            <a:ext cx="6353231" cy="185834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8" name="Rectángulo 387">
            <a:extLst>
              <a:ext uri="{FF2B5EF4-FFF2-40B4-BE49-F238E27FC236}">
                <a16:creationId xmlns:a16="http://schemas.microsoft.com/office/drawing/2014/main" id="{ACC74562-749F-FE8E-C8F3-3921C2784DF7}"/>
              </a:ext>
            </a:extLst>
          </p:cNvPr>
          <p:cNvSpPr/>
          <p:nvPr/>
        </p:nvSpPr>
        <p:spPr>
          <a:xfrm>
            <a:off x="4922594" y="5526186"/>
            <a:ext cx="3357906" cy="7981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b="1" dirty="0">
                <a:solidFill>
                  <a:schemeClr val="tx1"/>
                </a:solidFill>
              </a:rPr>
              <a:t>CD 2</a:t>
            </a:r>
            <a:br>
              <a:rPr lang="es-PE" sz="1200" b="1" dirty="0">
                <a:solidFill>
                  <a:schemeClr val="tx1"/>
                </a:solidFill>
              </a:rPr>
            </a:br>
            <a:r>
              <a:rPr lang="es-PE" sz="1200" b="1" dirty="0">
                <a:solidFill>
                  <a:schemeClr val="tx1"/>
                </a:solidFill>
              </a:rPr>
              <a:t>Limitaciones Organizacionales </a:t>
            </a:r>
            <a:endParaRPr lang="es-PE" sz="1100" dirty="0">
              <a:solidFill>
                <a:schemeClr val="tx1"/>
              </a:solidFill>
            </a:endParaRPr>
          </a:p>
        </p:txBody>
      </p:sp>
      <p:sp>
        <p:nvSpPr>
          <p:cNvPr id="393" name="Rectángulo 392">
            <a:extLst>
              <a:ext uri="{FF2B5EF4-FFF2-40B4-BE49-F238E27FC236}">
                <a16:creationId xmlns:a16="http://schemas.microsoft.com/office/drawing/2014/main" id="{497DEB04-2512-2FEE-85B9-A0FE3B2CAA28}"/>
              </a:ext>
            </a:extLst>
          </p:cNvPr>
          <p:cNvSpPr/>
          <p:nvPr/>
        </p:nvSpPr>
        <p:spPr>
          <a:xfrm>
            <a:off x="5369711" y="6518193"/>
            <a:ext cx="2466209" cy="7906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>
                <a:solidFill>
                  <a:schemeClr val="tx1"/>
                </a:solidFill>
              </a:rPr>
              <a:t>CI 2.1</a:t>
            </a:r>
          </a:p>
          <a:p>
            <a:pPr algn="ctr"/>
            <a:r>
              <a:rPr lang="es-PE" sz="1000" dirty="0">
                <a:solidFill>
                  <a:schemeClr val="tx1"/>
                </a:solidFill>
              </a:rPr>
              <a:t>Modelos organizacionales presentan limitaciones para responder a la naturaleza y escala de las intervenciones.</a:t>
            </a:r>
          </a:p>
          <a:p>
            <a:pPr algn="ctr"/>
            <a:endParaRPr lang="es-PE" sz="800" dirty="0">
              <a:solidFill>
                <a:schemeClr val="tx1"/>
              </a:solidFill>
            </a:endParaRPr>
          </a:p>
        </p:txBody>
      </p:sp>
      <p:sp>
        <p:nvSpPr>
          <p:cNvPr id="412" name="Rectángulo 411">
            <a:extLst>
              <a:ext uri="{FF2B5EF4-FFF2-40B4-BE49-F238E27FC236}">
                <a16:creationId xmlns:a16="http://schemas.microsoft.com/office/drawing/2014/main" id="{501A1784-63A5-2DF3-F86D-B8CF0A194939}"/>
              </a:ext>
            </a:extLst>
          </p:cNvPr>
          <p:cNvSpPr/>
          <p:nvPr/>
        </p:nvSpPr>
        <p:spPr>
          <a:xfrm>
            <a:off x="5367174" y="7497325"/>
            <a:ext cx="2466209" cy="7981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00" dirty="0">
              <a:solidFill>
                <a:schemeClr val="tx1"/>
              </a:solidFill>
            </a:endParaRPr>
          </a:p>
          <a:p>
            <a:pPr algn="ctr"/>
            <a:endParaRPr lang="es-PE" sz="1000" dirty="0">
              <a:solidFill>
                <a:schemeClr val="tx1"/>
              </a:solidFill>
            </a:endParaRPr>
          </a:p>
          <a:p>
            <a:pPr algn="ctr"/>
            <a:r>
              <a:rPr lang="es-PE" sz="1000" dirty="0">
                <a:solidFill>
                  <a:schemeClr val="tx1"/>
                </a:solidFill>
              </a:rPr>
              <a:t>CI 2.2</a:t>
            </a:r>
            <a:br>
              <a:rPr lang="es-PE" sz="1000" dirty="0">
                <a:solidFill>
                  <a:schemeClr val="tx1"/>
                </a:solidFill>
              </a:rPr>
            </a:br>
            <a:r>
              <a:rPr lang="es-PE" sz="1000" dirty="0">
                <a:solidFill>
                  <a:schemeClr val="tx1"/>
                </a:solidFill>
              </a:rPr>
              <a:t>Estructuras y dotación de personal que  no corresponden con las funciones y necesidades operativas.</a:t>
            </a:r>
          </a:p>
          <a:p>
            <a:pPr algn="ctr"/>
            <a:br>
              <a:rPr lang="es-PE" sz="1000" dirty="0">
                <a:solidFill>
                  <a:schemeClr val="tx1"/>
                </a:solidFill>
              </a:rPr>
            </a:br>
            <a:endParaRPr lang="es-PE" sz="800" dirty="0">
              <a:solidFill>
                <a:schemeClr val="tx1"/>
              </a:solidFill>
            </a:endParaRP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BF12C99F-E6AA-E771-B21E-AA5960BF5E8A}"/>
              </a:ext>
            </a:extLst>
          </p:cNvPr>
          <p:cNvSpPr/>
          <p:nvPr/>
        </p:nvSpPr>
        <p:spPr>
          <a:xfrm>
            <a:off x="5361556" y="8446140"/>
            <a:ext cx="2466209" cy="7981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00" dirty="0">
              <a:solidFill>
                <a:schemeClr val="tx1"/>
              </a:solidFill>
            </a:endParaRPr>
          </a:p>
          <a:p>
            <a:pPr algn="ctr"/>
            <a:endParaRPr lang="es-PE" sz="1000" dirty="0">
              <a:solidFill>
                <a:schemeClr val="tx1"/>
              </a:solidFill>
            </a:endParaRPr>
          </a:p>
          <a:p>
            <a:pPr algn="ctr"/>
            <a:r>
              <a:rPr lang="es-PE" sz="1000" dirty="0">
                <a:solidFill>
                  <a:schemeClr val="tx1"/>
                </a:solidFill>
              </a:rPr>
              <a:t>CI 2.3</a:t>
            </a:r>
            <a:br>
              <a:rPr lang="es-PE" sz="1000" dirty="0">
                <a:solidFill>
                  <a:schemeClr val="tx1"/>
                </a:solidFill>
              </a:rPr>
            </a:br>
            <a:r>
              <a:rPr lang="es-PE" sz="1000" dirty="0">
                <a:solidFill>
                  <a:schemeClr val="tx1"/>
                </a:solidFill>
              </a:rPr>
              <a:t>Limitaciones en la autonomía y capacidad operativa de determinadas intervenciones.</a:t>
            </a:r>
          </a:p>
          <a:p>
            <a:pPr algn="ctr"/>
            <a:br>
              <a:rPr lang="es-PE" sz="1000" dirty="0">
                <a:solidFill>
                  <a:schemeClr val="tx1"/>
                </a:solidFill>
              </a:rPr>
            </a:br>
            <a:br>
              <a:rPr lang="es-PE" sz="1000" dirty="0">
                <a:solidFill>
                  <a:schemeClr val="tx1"/>
                </a:solidFill>
              </a:rPr>
            </a:br>
            <a:endParaRPr lang="es-PE" sz="1000" dirty="0">
              <a:solidFill>
                <a:schemeClr val="tx1"/>
              </a:solidFill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7ADEC2D7-50C8-610F-BE69-7509F46D5B89}"/>
              </a:ext>
            </a:extLst>
          </p:cNvPr>
          <p:cNvSpPr/>
          <p:nvPr/>
        </p:nvSpPr>
        <p:spPr>
          <a:xfrm>
            <a:off x="13952665" y="5515268"/>
            <a:ext cx="3014292" cy="7981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200" b="1" dirty="0">
              <a:solidFill>
                <a:schemeClr val="tx1"/>
              </a:solidFill>
            </a:endParaRPr>
          </a:p>
          <a:p>
            <a:pPr algn="ctr"/>
            <a:r>
              <a:rPr lang="es-PE" sz="1200" b="1" dirty="0">
                <a:solidFill>
                  <a:schemeClr val="tx1"/>
                </a:solidFill>
              </a:rPr>
              <a:t>CD 4</a:t>
            </a:r>
            <a:br>
              <a:rPr lang="es-PE" sz="1200" b="1" dirty="0">
                <a:solidFill>
                  <a:schemeClr val="tx1"/>
                </a:solidFill>
              </a:rPr>
            </a:br>
            <a:r>
              <a:rPr lang="es-PE" sz="1200" b="1" dirty="0">
                <a:solidFill>
                  <a:srgbClr val="000000"/>
                </a:solidFill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Limitaciones para la priorización del desarrollo de las intervenciones en el territorio </a:t>
            </a:r>
            <a:endParaRPr lang="es-PE" sz="1200" b="1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algn="ctr"/>
            <a:endParaRPr lang="es-PE" sz="900" dirty="0">
              <a:solidFill>
                <a:schemeClr val="tx1"/>
              </a:solidFill>
            </a:endParaRP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AD10AB70-81B4-34B1-EEFF-833FF9636314}"/>
              </a:ext>
            </a:extLst>
          </p:cNvPr>
          <p:cNvSpPr/>
          <p:nvPr/>
        </p:nvSpPr>
        <p:spPr>
          <a:xfrm>
            <a:off x="13224391" y="6539403"/>
            <a:ext cx="2168010" cy="7694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>
                <a:solidFill>
                  <a:schemeClr val="tx1"/>
                </a:solidFill>
              </a:rPr>
              <a:t>CI 4.1</a:t>
            </a:r>
            <a:br>
              <a:rPr lang="es-PE" sz="1000" dirty="0">
                <a:solidFill>
                  <a:schemeClr val="tx1"/>
                </a:solidFill>
              </a:rPr>
            </a:br>
            <a:r>
              <a:rPr lang="es-PE" sz="1000" dirty="0">
                <a:solidFill>
                  <a:schemeClr val="tx1"/>
                </a:solidFill>
              </a:rPr>
              <a:t>Superposición o insuficiente delimitación de competencias entre órganos e intervenciones</a:t>
            </a:r>
            <a:br>
              <a:rPr lang="es-PE" sz="1000" dirty="0">
                <a:solidFill>
                  <a:schemeClr val="tx1"/>
                </a:solidFill>
              </a:rPr>
            </a:br>
            <a:endParaRPr lang="es-PE" sz="300" dirty="0">
              <a:solidFill>
                <a:schemeClr val="tx1"/>
              </a:solidFill>
            </a:endParaRP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DC546AB9-3C73-575D-3920-93AE0C0C80A4}"/>
              </a:ext>
            </a:extLst>
          </p:cNvPr>
          <p:cNvSpPr/>
          <p:nvPr/>
        </p:nvSpPr>
        <p:spPr>
          <a:xfrm>
            <a:off x="13228727" y="7475431"/>
            <a:ext cx="2163673" cy="7718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>
                <a:solidFill>
                  <a:schemeClr val="tx1"/>
                </a:solidFill>
              </a:rPr>
              <a:t>CI 4.2</a:t>
            </a:r>
            <a:br>
              <a:rPr lang="es-PE" sz="1000" dirty="0">
                <a:solidFill>
                  <a:schemeClr val="tx1"/>
                </a:solidFill>
              </a:rPr>
            </a:br>
            <a:r>
              <a:rPr lang="es-PE" sz="1000" dirty="0">
                <a:solidFill>
                  <a:schemeClr val="tx1"/>
                </a:solidFill>
              </a:rPr>
              <a:t>Planificación y priorización insuficientemente articuladas con las brechas ambientales y las necesidades del territorio.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2FA982AC-3D24-31EF-79EA-0B7EA07483E3}"/>
              </a:ext>
            </a:extLst>
          </p:cNvPr>
          <p:cNvSpPr/>
          <p:nvPr/>
        </p:nvSpPr>
        <p:spPr>
          <a:xfrm>
            <a:off x="13220871" y="8364183"/>
            <a:ext cx="2171529" cy="7793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>
                <a:solidFill>
                  <a:schemeClr val="tx1"/>
                </a:solidFill>
              </a:rPr>
              <a:t>CI 4.3</a:t>
            </a:r>
            <a:br>
              <a:rPr lang="es-PE" sz="1000" dirty="0">
                <a:solidFill>
                  <a:schemeClr val="tx1"/>
                </a:solidFill>
              </a:rPr>
            </a:br>
            <a:r>
              <a:rPr lang="es-PE" sz="1000" dirty="0">
                <a:solidFill>
                  <a:schemeClr val="tx1"/>
                </a:solidFill>
              </a:rPr>
              <a:t>Mecanismos insuficientes de coordinación entre las UE, los órganos de línea del MINAM y a nivel Sectorial</a:t>
            </a:r>
            <a:br>
              <a:rPr lang="es-PE" sz="1000" dirty="0">
                <a:solidFill>
                  <a:schemeClr val="tx1"/>
                </a:solidFill>
              </a:rPr>
            </a:br>
            <a:endParaRPr lang="es-PE" sz="200" dirty="0">
              <a:solidFill>
                <a:schemeClr val="tx1"/>
              </a:solidFill>
            </a:endParaRPr>
          </a:p>
        </p:txBody>
      </p: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C95DD0A2-B169-27EC-860E-E867965B4107}"/>
              </a:ext>
            </a:extLst>
          </p:cNvPr>
          <p:cNvCxnSpPr>
            <a:cxnSpLocks/>
            <a:stCxn id="388" idx="0"/>
          </p:cNvCxnSpPr>
          <p:nvPr/>
        </p:nvCxnSpPr>
        <p:spPr>
          <a:xfrm flipV="1">
            <a:off x="6601547" y="5314831"/>
            <a:ext cx="0" cy="211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D5AC63FA-373C-D5C2-1CB6-CCF4E0BAF469}"/>
              </a:ext>
            </a:extLst>
          </p:cNvPr>
          <p:cNvCxnSpPr>
            <a:cxnSpLocks/>
            <a:stCxn id="120" idx="0"/>
          </p:cNvCxnSpPr>
          <p:nvPr/>
        </p:nvCxnSpPr>
        <p:spPr>
          <a:xfrm flipV="1">
            <a:off x="10670976" y="5329434"/>
            <a:ext cx="0" cy="1780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: angular 99">
            <a:extLst>
              <a:ext uri="{FF2B5EF4-FFF2-40B4-BE49-F238E27FC236}">
                <a16:creationId xmlns:a16="http://schemas.microsoft.com/office/drawing/2014/main" id="{D5293FDC-E12C-62C3-B128-D49DF5F693D0}"/>
              </a:ext>
            </a:extLst>
          </p:cNvPr>
          <p:cNvCxnSpPr>
            <a:stCxn id="90" idx="1"/>
            <a:endCxn id="16" idx="2"/>
          </p:cNvCxnSpPr>
          <p:nvPr/>
        </p:nvCxnSpPr>
        <p:spPr>
          <a:xfrm rot="10800000" flipH="1">
            <a:off x="965199" y="6324364"/>
            <a:ext cx="1320799" cy="2604905"/>
          </a:xfrm>
          <a:prstGeom prst="bentConnector4">
            <a:avLst>
              <a:gd name="adj1" fmla="val -20914"/>
              <a:gd name="adj2" fmla="val 9662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12BF23A2-DAAF-A1F9-E736-D80E3F2CD3C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685800" y="6942521"/>
            <a:ext cx="279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BECF94C1-770C-2C53-4236-FE0F1F169699}"/>
              </a:ext>
            </a:extLst>
          </p:cNvPr>
          <p:cNvCxnSpPr>
            <a:cxnSpLocks/>
          </p:cNvCxnSpPr>
          <p:nvPr/>
        </p:nvCxnSpPr>
        <p:spPr>
          <a:xfrm>
            <a:off x="685800" y="7970648"/>
            <a:ext cx="279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: angular 110">
            <a:extLst>
              <a:ext uri="{FF2B5EF4-FFF2-40B4-BE49-F238E27FC236}">
                <a16:creationId xmlns:a16="http://schemas.microsoft.com/office/drawing/2014/main" id="{C7122571-EFC1-B5F5-58C4-106E30E346E0}"/>
              </a:ext>
            </a:extLst>
          </p:cNvPr>
          <p:cNvCxnSpPr/>
          <p:nvPr/>
        </p:nvCxnSpPr>
        <p:spPr>
          <a:xfrm rot="10800000" flipH="1">
            <a:off x="5369045" y="6324362"/>
            <a:ext cx="1320799" cy="2604905"/>
          </a:xfrm>
          <a:prstGeom prst="bentConnector4">
            <a:avLst>
              <a:gd name="adj1" fmla="val -20914"/>
              <a:gd name="adj2" fmla="val 9662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5AA1FEE7-C40E-12B2-C4D7-A89C09C45A91}"/>
              </a:ext>
            </a:extLst>
          </p:cNvPr>
          <p:cNvCxnSpPr>
            <a:cxnSpLocks/>
          </p:cNvCxnSpPr>
          <p:nvPr/>
        </p:nvCxnSpPr>
        <p:spPr>
          <a:xfrm>
            <a:off x="5089644" y="6909592"/>
            <a:ext cx="279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77083C0F-C31F-A5CD-6409-9D26C90E39C8}"/>
              </a:ext>
            </a:extLst>
          </p:cNvPr>
          <p:cNvCxnSpPr>
            <a:cxnSpLocks/>
          </p:cNvCxnSpPr>
          <p:nvPr/>
        </p:nvCxnSpPr>
        <p:spPr>
          <a:xfrm>
            <a:off x="5089644" y="7861369"/>
            <a:ext cx="279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: angular 113">
            <a:extLst>
              <a:ext uri="{FF2B5EF4-FFF2-40B4-BE49-F238E27FC236}">
                <a16:creationId xmlns:a16="http://schemas.microsoft.com/office/drawing/2014/main" id="{6944C734-7693-5899-0EAD-561BC791FF0E}"/>
              </a:ext>
            </a:extLst>
          </p:cNvPr>
          <p:cNvCxnSpPr/>
          <p:nvPr/>
        </p:nvCxnSpPr>
        <p:spPr>
          <a:xfrm rot="10800000" flipH="1">
            <a:off x="9446027" y="6305644"/>
            <a:ext cx="1320799" cy="2604905"/>
          </a:xfrm>
          <a:prstGeom prst="bentConnector4">
            <a:avLst>
              <a:gd name="adj1" fmla="val -20914"/>
              <a:gd name="adj2" fmla="val 9662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cto 114">
            <a:extLst>
              <a:ext uri="{FF2B5EF4-FFF2-40B4-BE49-F238E27FC236}">
                <a16:creationId xmlns:a16="http://schemas.microsoft.com/office/drawing/2014/main" id="{B042D2A2-F4CF-609E-B7CA-88AA5698B0FB}"/>
              </a:ext>
            </a:extLst>
          </p:cNvPr>
          <p:cNvCxnSpPr>
            <a:cxnSpLocks/>
          </p:cNvCxnSpPr>
          <p:nvPr/>
        </p:nvCxnSpPr>
        <p:spPr>
          <a:xfrm>
            <a:off x="9166626" y="6900024"/>
            <a:ext cx="279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37BC092C-2E5E-0B18-CAE2-395ED0F7E48C}"/>
              </a:ext>
            </a:extLst>
          </p:cNvPr>
          <p:cNvCxnSpPr>
            <a:cxnSpLocks/>
          </p:cNvCxnSpPr>
          <p:nvPr/>
        </p:nvCxnSpPr>
        <p:spPr>
          <a:xfrm>
            <a:off x="9166626" y="7838091"/>
            <a:ext cx="279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cto 123">
            <a:extLst>
              <a:ext uri="{FF2B5EF4-FFF2-40B4-BE49-F238E27FC236}">
                <a16:creationId xmlns:a16="http://schemas.microsoft.com/office/drawing/2014/main" id="{2296FE68-889B-2FD2-0B8E-3A232AE1D0A8}"/>
              </a:ext>
            </a:extLst>
          </p:cNvPr>
          <p:cNvCxnSpPr>
            <a:cxnSpLocks/>
          </p:cNvCxnSpPr>
          <p:nvPr/>
        </p:nvCxnSpPr>
        <p:spPr>
          <a:xfrm>
            <a:off x="12949326" y="7878387"/>
            <a:ext cx="279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125">
            <a:extLst>
              <a:ext uri="{FF2B5EF4-FFF2-40B4-BE49-F238E27FC236}">
                <a16:creationId xmlns:a16="http://schemas.microsoft.com/office/drawing/2014/main" id="{E0B33C2B-FD5D-4A47-405E-76EE6790040B}"/>
              </a:ext>
            </a:extLst>
          </p:cNvPr>
          <p:cNvCxnSpPr>
            <a:cxnSpLocks/>
          </p:cNvCxnSpPr>
          <p:nvPr/>
        </p:nvCxnSpPr>
        <p:spPr>
          <a:xfrm>
            <a:off x="12949326" y="6952202"/>
            <a:ext cx="279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6EEEC6CF-5CAC-CD3A-89FE-237D8D8556CF}"/>
              </a:ext>
            </a:extLst>
          </p:cNvPr>
          <p:cNvSpPr txBox="1"/>
          <p:nvPr/>
        </p:nvSpPr>
        <p:spPr>
          <a:xfrm>
            <a:off x="2285998" y="1739672"/>
            <a:ext cx="7443107" cy="7730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s-ES" dirty="0">
                <a:sym typeface="Calibri"/>
              </a:rPr>
              <a:t>EI 2</a:t>
            </a:r>
          </a:p>
          <a:p>
            <a:pPr lvl="0"/>
            <a:r>
              <a:rPr lang="es-ES" dirty="0">
                <a:ea typeface="Calibri"/>
                <a:cs typeface="Calibri"/>
                <a:sym typeface="Calibri"/>
              </a:rPr>
              <a:t>Baja visibilidad de las intervenciones y de los resultados del Sector Ambiental en el territorio</a:t>
            </a:r>
            <a:endParaRPr lang="es-ES" sz="1800" dirty="0"/>
          </a:p>
        </p:txBody>
      </p:sp>
      <p:cxnSp>
        <p:nvCxnSpPr>
          <p:cNvPr id="162" name="Conector recto 161">
            <a:extLst>
              <a:ext uri="{FF2B5EF4-FFF2-40B4-BE49-F238E27FC236}">
                <a16:creationId xmlns:a16="http://schemas.microsoft.com/office/drawing/2014/main" id="{1F40140D-8677-430B-45A0-D4F8923E9459}"/>
              </a:ext>
            </a:extLst>
          </p:cNvPr>
          <p:cNvCxnSpPr>
            <a:cxnSpLocks/>
          </p:cNvCxnSpPr>
          <p:nvPr/>
        </p:nvCxnSpPr>
        <p:spPr>
          <a:xfrm flipV="1">
            <a:off x="9296400" y="2513255"/>
            <a:ext cx="0" cy="5555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ector recto 162">
            <a:extLst>
              <a:ext uri="{FF2B5EF4-FFF2-40B4-BE49-F238E27FC236}">
                <a16:creationId xmlns:a16="http://schemas.microsoft.com/office/drawing/2014/main" id="{4F10570B-33D2-227E-3C09-0D9035546428}"/>
              </a:ext>
            </a:extLst>
          </p:cNvPr>
          <p:cNvCxnSpPr>
            <a:cxnSpLocks/>
          </p:cNvCxnSpPr>
          <p:nvPr/>
        </p:nvCxnSpPr>
        <p:spPr>
          <a:xfrm flipV="1">
            <a:off x="15697200" y="2553080"/>
            <a:ext cx="0" cy="5555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ector recto 163">
            <a:extLst>
              <a:ext uri="{FF2B5EF4-FFF2-40B4-BE49-F238E27FC236}">
                <a16:creationId xmlns:a16="http://schemas.microsoft.com/office/drawing/2014/main" id="{1972EAF6-707F-97B9-A392-CC04B465932A}"/>
              </a:ext>
            </a:extLst>
          </p:cNvPr>
          <p:cNvCxnSpPr>
            <a:cxnSpLocks/>
            <a:stCxn id="184" idx="0"/>
          </p:cNvCxnSpPr>
          <p:nvPr/>
        </p:nvCxnSpPr>
        <p:spPr>
          <a:xfrm flipV="1">
            <a:off x="13828972" y="1399119"/>
            <a:ext cx="0" cy="365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recto 166">
            <a:extLst>
              <a:ext uri="{FF2B5EF4-FFF2-40B4-BE49-F238E27FC236}">
                <a16:creationId xmlns:a16="http://schemas.microsoft.com/office/drawing/2014/main" id="{3993055A-C6F2-00D0-D32B-79A5C316CCD3}"/>
              </a:ext>
            </a:extLst>
          </p:cNvPr>
          <p:cNvCxnSpPr>
            <a:cxnSpLocks/>
            <a:stCxn id="157" idx="0"/>
          </p:cNvCxnSpPr>
          <p:nvPr/>
        </p:nvCxnSpPr>
        <p:spPr>
          <a:xfrm flipV="1">
            <a:off x="6007552" y="1411433"/>
            <a:ext cx="0" cy="328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CuadroTexto 169">
            <a:extLst>
              <a:ext uri="{FF2B5EF4-FFF2-40B4-BE49-F238E27FC236}">
                <a16:creationId xmlns:a16="http://schemas.microsoft.com/office/drawing/2014/main" id="{CBF73542-EB05-D35C-529A-022FE473E28E}"/>
              </a:ext>
            </a:extLst>
          </p:cNvPr>
          <p:cNvSpPr txBox="1"/>
          <p:nvPr/>
        </p:nvSpPr>
        <p:spPr>
          <a:xfrm>
            <a:off x="15588459" y="7488130"/>
            <a:ext cx="2255917" cy="7591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0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PE" dirty="0">
                <a:solidFill>
                  <a:schemeClr val="tx1"/>
                </a:solidFill>
              </a:rPr>
              <a:t>CI 4.5</a:t>
            </a:r>
          </a:p>
          <a:p>
            <a:r>
              <a:rPr lang="es-PE" dirty="0">
                <a:solidFill>
                  <a:schemeClr val="tx1"/>
                </a:solidFill>
              </a:rPr>
              <a:t>Asignación sucesiva de programas y proyectos a una misma UE sin evaluar su capacidad</a:t>
            </a:r>
          </a:p>
        </p:txBody>
      </p:sp>
      <p:sp>
        <p:nvSpPr>
          <p:cNvPr id="180" name="Rectángulo 179">
            <a:extLst>
              <a:ext uri="{FF2B5EF4-FFF2-40B4-BE49-F238E27FC236}">
                <a16:creationId xmlns:a16="http://schemas.microsoft.com/office/drawing/2014/main" id="{642B732F-6D82-EFF8-6E9C-B8ADEC44F6E2}"/>
              </a:ext>
            </a:extLst>
          </p:cNvPr>
          <p:cNvSpPr/>
          <p:nvPr/>
        </p:nvSpPr>
        <p:spPr>
          <a:xfrm>
            <a:off x="15594769" y="6558011"/>
            <a:ext cx="2255917" cy="7694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>
                <a:solidFill>
                  <a:schemeClr val="tx1"/>
                </a:solidFill>
              </a:rPr>
              <a:t>CI 4.4</a:t>
            </a:r>
            <a:br>
              <a:rPr lang="es-PE" sz="1000" dirty="0">
                <a:solidFill>
                  <a:schemeClr val="tx1"/>
                </a:solidFill>
              </a:rPr>
            </a:br>
            <a:r>
              <a:rPr lang="es-PE" sz="1000" dirty="0">
                <a:solidFill>
                  <a:schemeClr val="tx1"/>
                </a:solidFill>
              </a:rPr>
              <a:t>Competencias Compartidas no permiten delimitar efectivamente la intervenciones en el territorio </a:t>
            </a:r>
          </a:p>
          <a:p>
            <a:pPr algn="ctr"/>
            <a:endParaRPr lang="es-PE" sz="1000" dirty="0">
              <a:solidFill>
                <a:schemeClr val="tx1"/>
              </a:solidFill>
            </a:endParaRPr>
          </a:p>
        </p:txBody>
      </p:sp>
      <p:cxnSp>
        <p:nvCxnSpPr>
          <p:cNvPr id="187" name="Conector: angular 186">
            <a:extLst>
              <a:ext uri="{FF2B5EF4-FFF2-40B4-BE49-F238E27FC236}">
                <a16:creationId xmlns:a16="http://schemas.microsoft.com/office/drawing/2014/main" id="{6F6F0D36-0459-860B-8388-483B2F430745}"/>
              </a:ext>
            </a:extLst>
          </p:cNvPr>
          <p:cNvCxnSpPr>
            <a:cxnSpLocks/>
            <a:stCxn id="170" idx="3"/>
            <a:endCxn id="74" idx="2"/>
          </p:cNvCxnSpPr>
          <p:nvPr/>
        </p:nvCxnSpPr>
        <p:spPr>
          <a:xfrm flipH="1" flipV="1">
            <a:off x="15459811" y="6313445"/>
            <a:ext cx="2384565" cy="1554274"/>
          </a:xfrm>
          <a:prstGeom prst="bentConnector4">
            <a:avLst>
              <a:gd name="adj1" fmla="val -9587"/>
              <a:gd name="adj2" fmla="val 9448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ector: angular 201">
            <a:extLst>
              <a:ext uri="{FF2B5EF4-FFF2-40B4-BE49-F238E27FC236}">
                <a16:creationId xmlns:a16="http://schemas.microsoft.com/office/drawing/2014/main" id="{859B9ADE-E55A-F832-4049-85774FC3693F}"/>
              </a:ext>
            </a:extLst>
          </p:cNvPr>
          <p:cNvCxnSpPr>
            <a:stCxn id="80" idx="1"/>
            <a:endCxn id="74" idx="2"/>
          </p:cNvCxnSpPr>
          <p:nvPr/>
        </p:nvCxnSpPr>
        <p:spPr>
          <a:xfrm rot="10800000" flipH="1">
            <a:off x="13220871" y="6313446"/>
            <a:ext cx="2238940" cy="2440431"/>
          </a:xfrm>
          <a:prstGeom prst="bentConnector4">
            <a:avLst>
              <a:gd name="adj1" fmla="val -12479"/>
              <a:gd name="adj2" fmla="val 9649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ector recto 206">
            <a:extLst>
              <a:ext uri="{FF2B5EF4-FFF2-40B4-BE49-F238E27FC236}">
                <a16:creationId xmlns:a16="http://schemas.microsoft.com/office/drawing/2014/main" id="{7179CAF7-ED09-F8D2-CC2E-E7F5C4BD9457}"/>
              </a:ext>
            </a:extLst>
          </p:cNvPr>
          <p:cNvCxnSpPr>
            <a:cxnSpLocks/>
          </p:cNvCxnSpPr>
          <p:nvPr/>
        </p:nvCxnSpPr>
        <p:spPr>
          <a:xfrm>
            <a:off x="17850686" y="6942521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ector recto 249">
            <a:extLst>
              <a:ext uri="{FF2B5EF4-FFF2-40B4-BE49-F238E27FC236}">
                <a16:creationId xmlns:a16="http://schemas.microsoft.com/office/drawing/2014/main" id="{65AF8DAD-E041-E969-8297-C22CE9A4B5F1}"/>
              </a:ext>
            </a:extLst>
          </p:cNvPr>
          <p:cNvCxnSpPr>
            <a:cxnSpLocks/>
          </p:cNvCxnSpPr>
          <p:nvPr/>
        </p:nvCxnSpPr>
        <p:spPr>
          <a:xfrm flipV="1">
            <a:off x="4922594" y="2512751"/>
            <a:ext cx="0" cy="5555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386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4835</TotalTime>
  <Words>393</Words>
  <Application>Microsoft Office PowerPoint</Application>
  <PresentationFormat>Personalizado</PresentationFormat>
  <Paragraphs>50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Calibri</vt:lpstr>
      <vt:lpstr>Cambria</vt:lpstr>
      <vt:lpstr>Arial</vt:lpstr>
      <vt:lpstr>Poppins Bold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EJECUCIÓN PRESUPUESTAL 2026 -   OPPMI</dc:title>
  <dc:creator>yessica alvarado</dc:creator>
  <cp:lastModifiedBy>Irwing Aspajo Grandez</cp:lastModifiedBy>
  <cp:revision>225</cp:revision>
  <cp:lastPrinted>2026-10-19T20:41:00Z</cp:lastPrinted>
  <dcterms:created xsi:type="dcterms:W3CDTF">2006-08-16T00:00:00Z</dcterms:created>
  <dcterms:modified xsi:type="dcterms:W3CDTF">2026-10-19T20:41:12Z</dcterms:modified>
  <dc:identifier>DAHFE-DtGLQ</dc:identifier>
</cp:coreProperties>
</file>